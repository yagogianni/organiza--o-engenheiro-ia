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Poppins Medium"/>
      <p:regular r:id="rId16"/>
      <p:bold r:id="rId17"/>
      <p:italic r:id="rId18"/>
      <p:boldItalic r:id="rId19"/>
    </p:embeddedFont>
    <p:embeddedFont>
      <p:font typeface="Poppins Black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Blac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oppinsBlack-boldItalic.fntdata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PoppinsMedium-bold.fntdata"/><Relationship Id="rId16" Type="http://schemas.openxmlformats.org/officeDocument/2006/relationships/font" Target="fonts/Poppins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96aa0ff6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96aa0ff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96aa0ff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96aa0ff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96aa0ff6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96aa0ff6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aa0ff6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96aa0ff6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37d3e96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37d3e96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instagram.com/" TargetMode="External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LO2_UniversoSubido_PPT_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LO2_UniversoSubido_PPT_logo.png"/>
          <p:cNvPicPr preferRelativeResize="0"/>
          <p:nvPr/>
        </p:nvPicPr>
        <p:blipFill rotWithShape="1">
          <a:blip r:embed="rId4">
            <a:alphaModFix/>
          </a:blip>
          <a:srcRect b="15109" l="29403" r="33485" t="15807"/>
          <a:stretch/>
        </p:blipFill>
        <p:spPr>
          <a:xfrm>
            <a:off x="2909175" y="854775"/>
            <a:ext cx="3359549" cy="351784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 rot="-2418311">
            <a:off x="-1263649" y="811878"/>
            <a:ext cx="2581398" cy="127514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 rot="1560490">
            <a:off x="8020877" y="3321935"/>
            <a:ext cx="2581305" cy="12750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LO2_UniversoSubido_PPT_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790250" y="1539175"/>
            <a:ext cx="50808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55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Primeiros passos antes de criar o seu material.</a:t>
            </a:r>
            <a:endParaRPr b="1" sz="10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-11862" y="755675"/>
            <a:ext cx="9167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4" title="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825" y="217963"/>
            <a:ext cx="1702576" cy="3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419525" y="257925"/>
            <a:ext cx="4504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ASP - Aprendiz Sem Permissão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273050" y="1353875"/>
            <a:ext cx="1812300" cy="20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0">
              <a:solidFill>
                <a:srgbClr val="0395FF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8" name="Google Shape;68;p14"/>
          <p:cNvSpPr/>
          <p:nvPr/>
        </p:nvSpPr>
        <p:spPr>
          <a:xfrm rot="-2418311">
            <a:off x="-1296225" y="4292266"/>
            <a:ext cx="2581398" cy="1156373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 rot="1560490">
            <a:off x="8206599" y="2432425"/>
            <a:ext cx="2581305" cy="1068401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2200" y="2662475"/>
            <a:ext cx="2941175" cy="7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5"/>
          <p:cNvCxnSpPr/>
          <p:nvPr/>
        </p:nvCxnSpPr>
        <p:spPr>
          <a:xfrm>
            <a:off x="-8875" y="755675"/>
            <a:ext cx="9164700" cy="0"/>
          </a:xfrm>
          <a:prstGeom prst="straightConnector1">
            <a:avLst/>
          </a:prstGeom>
          <a:noFill/>
          <a:ln cap="flat" cmpd="sng" w="9525">
            <a:solidFill>
              <a:srgbClr val="0044A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6" name="Google Shape;76;p15" title="Azu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3825" y="217963"/>
            <a:ext cx="1702576" cy="31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5"/>
          <p:cNvCxnSpPr/>
          <p:nvPr/>
        </p:nvCxnSpPr>
        <p:spPr>
          <a:xfrm>
            <a:off x="-10075" y="1755463"/>
            <a:ext cx="9167100" cy="16200"/>
          </a:xfrm>
          <a:prstGeom prst="straightConnector1">
            <a:avLst/>
          </a:prstGeom>
          <a:noFill/>
          <a:ln cap="flat" cmpd="sng" w="9525">
            <a:solidFill>
              <a:srgbClr val="0044A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 txBox="1"/>
          <p:nvPr/>
        </p:nvSpPr>
        <p:spPr>
          <a:xfrm>
            <a:off x="419525" y="1312825"/>
            <a:ext cx="812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44A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10975" y="823875"/>
            <a:ext cx="8925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50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Primeiros passos </a:t>
            </a:r>
            <a:r>
              <a:rPr b="1" lang="pt-BR" sz="2650" u="sng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ANTES</a:t>
            </a:r>
            <a:r>
              <a:rPr b="1" lang="pt-BR" sz="2650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 da criação e prospecção</a:t>
            </a:r>
            <a:endParaRPr b="1" sz="9400">
              <a:solidFill>
                <a:srgbClr val="0044A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344800" y="1869525"/>
            <a:ext cx="35469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Escolha um único nicho para iniciar 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Crie uma lista de perfis para serem abordados 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Montar o seu material</a:t>
            </a:r>
            <a:b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Mantenha</a:t>
            </a: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uma boa cadência de prospecção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Follow-up é um </a:t>
            </a:r>
            <a:r>
              <a:rPr lang="pt-BR" sz="1100" u="sng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diferencial</a:t>
            </a:r>
            <a:br>
              <a:rPr lang="pt-BR" sz="1100" u="sng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100" u="sng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Utilize de outras formas esse material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Estude o perfil para uma melhor </a:t>
            </a: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abordagem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Não desanime e mantenha o foco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19525" y="257925"/>
            <a:ext cx="4504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ASP - Aprendiz Sem Permissão</a:t>
            </a:r>
            <a:endParaRPr b="1">
              <a:solidFill>
                <a:srgbClr val="0044A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p16"/>
          <p:cNvCxnSpPr/>
          <p:nvPr/>
        </p:nvCxnSpPr>
        <p:spPr>
          <a:xfrm>
            <a:off x="-8875" y="755675"/>
            <a:ext cx="9164700" cy="0"/>
          </a:xfrm>
          <a:prstGeom prst="straightConnector1">
            <a:avLst/>
          </a:prstGeom>
          <a:noFill/>
          <a:ln cap="flat" cmpd="sng" w="9525">
            <a:solidFill>
              <a:srgbClr val="0044A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" name="Google Shape;87;p16" title="Azu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3825" y="217963"/>
            <a:ext cx="1702576" cy="3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419525" y="817738"/>
            <a:ext cx="8011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50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ROTINA - ASP </a:t>
            </a:r>
            <a:endParaRPr b="1" sz="9900">
              <a:solidFill>
                <a:srgbClr val="0044A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19525" y="257925"/>
            <a:ext cx="4504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ASP - </a:t>
            </a:r>
            <a:r>
              <a:rPr b="1" lang="pt-BR" sz="1150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Aprendiz Sem Permissão</a:t>
            </a:r>
            <a:endParaRPr b="1">
              <a:solidFill>
                <a:srgbClr val="0044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0044A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>
              <a:solidFill>
                <a:srgbClr val="0044A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950600" y="1738300"/>
            <a:ext cx="444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Segunda feira - Escolha do nicho + Montar sua lista </a:t>
            </a:r>
            <a:b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Terça feira - Montagem de material de todos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Quarta feira - Abordagem de todos 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Quinta feira - Follow-up 1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Sexta feira - Follow-up 2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ábado - Follow -up 3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44A4"/>
              </a:buClr>
              <a:buSzPts val="1100"/>
              <a:buFont typeface="Poppins Medium"/>
              <a:buChar char="●"/>
            </a:pPr>
            <a:r>
              <a:rPr lang="pt-BR" sz="11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Domingo - Descanso</a:t>
            </a:r>
            <a:endParaRPr sz="11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21925" y="890250"/>
            <a:ext cx="1779950" cy="55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 title="LO2_UniversoSubido_PPT_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7"/>
          <p:cNvCxnSpPr/>
          <p:nvPr/>
        </p:nvCxnSpPr>
        <p:spPr>
          <a:xfrm>
            <a:off x="-11862" y="755675"/>
            <a:ext cx="9167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8" name="Google Shape;98;p17" title="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825" y="217963"/>
            <a:ext cx="1702576" cy="3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419525" y="257925"/>
            <a:ext cx="4504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montar sua lista 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0" name="Google Shape;100;p17"/>
          <p:cNvCxnSpPr/>
          <p:nvPr/>
        </p:nvCxnSpPr>
        <p:spPr>
          <a:xfrm>
            <a:off x="-8875" y="755675"/>
            <a:ext cx="9164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7"/>
          <p:cNvSpPr txBox="1"/>
          <p:nvPr/>
        </p:nvSpPr>
        <p:spPr>
          <a:xfrm>
            <a:off x="4924325" y="1180725"/>
            <a:ext cx="3622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Digitiar no Google </a:t>
            </a:r>
            <a:br>
              <a:rPr lang="pt-BR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pt-BR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pt-BR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pt-BR" sz="1100">
                <a:solidFill>
                  <a:srgbClr val="DADADA"/>
                </a:solidFill>
              </a:rPr>
              <a:t>Dentista( “@gmail.com” OR “@hotmail.com” OR “@yahoo.com”) AND Brazil site:</a:t>
            </a:r>
            <a:r>
              <a:rPr lang="pt-BR" sz="1100" u="sng">
                <a:solidFill>
                  <a:schemeClr val="hlink"/>
                </a:solidFill>
                <a:hlinkClick r:id="rId5"/>
              </a:rPr>
              <a:t>instagram.com/</a:t>
            </a:r>
            <a:br>
              <a:rPr lang="pt-BR" sz="1100">
                <a:solidFill>
                  <a:srgbClr val="DADADA"/>
                </a:solidFill>
              </a:rPr>
            </a:br>
            <a:br>
              <a:rPr lang="pt-BR" sz="1100">
                <a:solidFill>
                  <a:srgbClr val="DADADA"/>
                </a:solidFill>
              </a:rPr>
            </a:br>
            <a:endParaRPr sz="1100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DADADA"/>
                </a:solidFill>
              </a:rPr>
              <a:t>Ou usa a IA Manus AI para facilitar sua vida </a:t>
            </a:r>
            <a:endParaRPr sz="1100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ADAD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1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1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2" name="Google Shape;102;p17"/>
          <p:cNvSpPr/>
          <p:nvPr/>
        </p:nvSpPr>
        <p:spPr>
          <a:xfrm rot="-2418311">
            <a:off x="-1296225" y="4292266"/>
            <a:ext cx="2581398" cy="1156373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 rot="1560490">
            <a:off x="8606074" y="2412450"/>
            <a:ext cx="2581305" cy="1068401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515825" y="1070875"/>
            <a:ext cx="3989700" cy="3641100"/>
          </a:xfrm>
          <a:prstGeom prst="rect">
            <a:avLst/>
          </a:prstGeom>
          <a:solidFill>
            <a:srgbClr val="0044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17"/>
          <p:cNvCxnSpPr/>
          <p:nvPr/>
        </p:nvCxnSpPr>
        <p:spPr>
          <a:xfrm flipH="1">
            <a:off x="4305650" y="2849975"/>
            <a:ext cx="2636700" cy="3000"/>
          </a:xfrm>
          <a:prstGeom prst="straightConnector1">
            <a:avLst/>
          </a:prstGeom>
          <a:noFill/>
          <a:ln cap="flat" cmpd="sng" w="9525">
            <a:solidFill>
              <a:srgbClr val="0395FF"/>
            </a:solidFill>
            <a:prstDash val="solid"/>
            <a:round/>
            <a:headEnd len="med" w="med" type="none"/>
            <a:tailEnd len="med" w="med" type="diamond"/>
          </a:ln>
        </p:spPr>
      </p:cxnSp>
      <p:pic>
        <p:nvPicPr>
          <p:cNvPr id="106" name="Google Shape;106;p17" title="Captura de Tela 2025-09-24 às 23.12.5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074" y="1433401"/>
            <a:ext cx="3811973" cy="3026498"/>
          </a:xfrm>
          <a:prstGeom prst="rect">
            <a:avLst/>
          </a:prstGeom>
          <a:solidFill>
            <a:srgbClr val="0044A4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 title="LO2_UniversoSubido_PPT_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8"/>
          <p:cNvCxnSpPr/>
          <p:nvPr/>
        </p:nvCxnSpPr>
        <p:spPr>
          <a:xfrm>
            <a:off x="-11862" y="755675"/>
            <a:ext cx="91677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3" name="Google Shape;113;p18" title="Branc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825" y="217963"/>
            <a:ext cx="1702576" cy="3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419525" y="257925"/>
            <a:ext cx="4504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montar sua lista </a:t>
            </a:r>
            <a:endParaRPr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>
            <a:off x="-8875" y="755675"/>
            <a:ext cx="9164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8"/>
          <p:cNvSpPr/>
          <p:nvPr/>
        </p:nvSpPr>
        <p:spPr>
          <a:xfrm rot="-2418311">
            <a:off x="-1296225" y="4292266"/>
            <a:ext cx="2581398" cy="1156373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 rot="1560490">
            <a:off x="8606074" y="2412450"/>
            <a:ext cx="2581305" cy="1068401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1289767" y="755675"/>
            <a:ext cx="7396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Prompt da Manus: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preciso que crie uma lista de 100 dentistas no brasil , que tenha pelo menos 10 mil seguidores no instagram  para eu prospectar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A pesquisa você vai fazer da segunte forma no google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Dentista( “@gmail.com” OR “@hotmail.com” OR “@yahoo.com”) AND Brazil site:instagram.com/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assim ele irá te mostar links de pefil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A sua tarefa consiste em agrupar em um excel esses 100 dentistas, mas preciso que a planilha seja feita da seguinte maneira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uma colunca para eu preencher a data da abordagem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nome do denstista quando tiver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@ do instagram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números de seguidores que vc colheu de informação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coluna escrito número de Follow-up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respondeu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chemeClr val="lt1"/>
                </a:solidFill>
              </a:rPr>
              <a:t>agendou reunião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</a:rPr>
              <a:t>fechou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