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oppins"/>
      <p:regular r:id="rId22"/>
      <p:bold r:id="rId23"/>
      <p:italic r:id="rId24"/>
      <p:boldItalic r:id="rId25"/>
    </p:embeddedFont>
    <p:embeddedFont>
      <p:font typeface="Poppins Medium"/>
      <p:regular r:id="rId26"/>
      <p:bold r:id="rId27"/>
      <p:italic r:id="rId28"/>
      <p:boldItalic r:id="rId29"/>
    </p:embeddedFont>
    <p:embeddedFont>
      <p:font typeface="Poppins Black"/>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regular.fntdata"/><Relationship Id="rId21" Type="http://schemas.openxmlformats.org/officeDocument/2006/relationships/slide" Target="slides/slide16.xml"/><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regular.fntdata"/><Relationship Id="rId25" Type="http://schemas.openxmlformats.org/officeDocument/2006/relationships/font" Target="fonts/Poppins-boldItalic.fntdata"/><Relationship Id="rId28" Type="http://schemas.openxmlformats.org/officeDocument/2006/relationships/font" Target="fonts/PoppinsMedium-italic.fntdata"/><Relationship Id="rId27" Type="http://schemas.openxmlformats.org/officeDocument/2006/relationships/font" Target="fonts/Poppins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lack-boldItalic.fntdata"/><Relationship Id="rId30" Type="http://schemas.openxmlformats.org/officeDocument/2006/relationships/font" Target="fonts/PoppinsBlack-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96aa0ff6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796aa0ff6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796aa0ff6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796aa0ff6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828b6bc81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828b6bc81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28b6bc81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828b6bc81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32fb6162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32fb6162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32fb6162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32fb6162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32fb6162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32fb616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32fb6162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32fb6162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32fb6162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32fb6162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96aa0ff6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796aa0ff6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3687b2b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3687b2b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32fb61625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32fb6162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32fb6162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32fb6162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32fb6162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32fb6162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32fb6162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32fb6162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LO2_UniversoSubido_PPT_bg.png"/>
          <p:cNvPicPr preferRelativeResize="0"/>
          <p:nvPr/>
        </p:nvPicPr>
        <p:blipFill>
          <a:blip r:embed="rId3">
            <a:alphaModFix/>
          </a:blip>
          <a:stretch>
            <a:fillRect/>
          </a:stretch>
        </p:blipFill>
        <p:spPr>
          <a:xfrm>
            <a:off x="0" y="0"/>
            <a:ext cx="9143981" cy="5143500"/>
          </a:xfrm>
          <a:prstGeom prst="rect">
            <a:avLst/>
          </a:prstGeom>
          <a:noFill/>
          <a:ln>
            <a:noFill/>
          </a:ln>
        </p:spPr>
      </p:pic>
      <p:pic>
        <p:nvPicPr>
          <p:cNvPr id="55" name="Google Shape;55;p13" title="LO2_UniversoSubido_PPT_logo.png"/>
          <p:cNvPicPr preferRelativeResize="0"/>
          <p:nvPr/>
        </p:nvPicPr>
        <p:blipFill rotWithShape="1">
          <a:blip r:embed="rId4">
            <a:alphaModFix/>
          </a:blip>
          <a:srcRect b="15109" l="29403" r="33485" t="15807"/>
          <a:stretch/>
        </p:blipFill>
        <p:spPr>
          <a:xfrm>
            <a:off x="2909175" y="854775"/>
            <a:ext cx="3359549" cy="3517849"/>
          </a:xfrm>
          <a:prstGeom prst="rect">
            <a:avLst/>
          </a:prstGeom>
          <a:noFill/>
          <a:ln>
            <a:noFill/>
          </a:ln>
        </p:spPr>
      </p:pic>
      <p:sp>
        <p:nvSpPr>
          <p:cNvPr id="56" name="Google Shape;56;p13"/>
          <p:cNvSpPr/>
          <p:nvPr/>
        </p:nvSpPr>
        <p:spPr>
          <a:xfrm rot="-2418311">
            <a:off x="-1263649" y="811878"/>
            <a:ext cx="2581398" cy="1275144"/>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p:nvPr/>
        </p:nvSpPr>
        <p:spPr>
          <a:xfrm rot="1560490">
            <a:off x="8020877" y="3321935"/>
            <a:ext cx="2581305" cy="1275024"/>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title="LO2_UniversoSubido_PPT_bg.png"/>
          <p:cNvPicPr preferRelativeResize="0"/>
          <p:nvPr/>
        </p:nvPicPr>
        <p:blipFill>
          <a:blip r:embed="rId3">
            <a:alphaModFix/>
          </a:blip>
          <a:stretch>
            <a:fillRect/>
          </a:stretch>
        </p:blipFill>
        <p:spPr>
          <a:xfrm>
            <a:off x="0" y="0"/>
            <a:ext cx="9143981" cy="5143500"/>
          </a:xfrm>
          <a:prstGeom prst="rect">
            <a:avLst/>
          </a:prstGeom>
          <a:noFill/>
          <a:ln>
            <a:noFill/>
          </a:ln>
        </p:spPr>
      </p:pic>
      <p:sp>
        <p:nvSpPr>
          <p:cNvPr id="63" name="Google Shape;63;p14"/>
          <p:cNvSpPr txBox="1"/>
          <p:nvPr/>
        </p:nvSpPr>
        <p:spPr>
          <a:xfrm>
            <a:off x="1792488" y="1386600"/>
            <a:ext cx="5559000" cy="237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550">
                <a:solidFill>
                  <a:schemeClr val="lt1"/>
                </a:solidFill>
                <a:latin typeface="Poppins"/>
                <a:ea typeface="Poppins"/>
                <a:cs typeface="Poppins"/>
                <a:sym typeface="Poppins"/>
              </a:rPr>
              <a:t>O que fazer, por onde e como  começar a prospectar por mensagem</a:t>
            </a:r>
            <a:endParaRPr b="1" sz="10300">
              <a:solidFill>
                <a:schemeClr val="lt1"/>
              </a:solidFill>
              <a:latin typeface="Poppins"/>
              <a:ea typeface="Poppins"/>
              <a:cs typeface="Poppins"/>
              <a:sym typeface="Poppins"/>
            </a:endParaRPr>
          </a:p>
        </p:txBody>
      </p:sp>
      <p:cxnSp>
        <p:nvCxnSpPr>
          <p:cNvPr id="64" name="Google Shape;64;p14"/>
          <p:cNvCxnSpPr/>
          <p:nvPr/>
        </p:nvCxnSpPr>
        <p:spPr>
          <a:xfrm>
            <a:off x="-11862" y="755675"/>
            <a:ext cx="9167700" cy="0"/>
          </a:xfrm>
          <a:prstGeom prst="straightConnector1">
            <a:avLst/>
          </a:prstGeom>
          <a:noFill/>
          <a:ln cap="flat" cmpd="sng" w="9525">
            <a:solidFill>
              <a:srgbClr val="FFFFFF"/>
            </a:solidFill>
            <a:prstDash val="solid"/>
            <a:round/>
            <a:headEnd len="med" w="med" type="none"/>
            <a:tailEnd len="med" w="med" type="none"/>
          </a:ln>
        </p:spPr>
      </p:cxnSp>
      <p:pic>
        <p:nvPicPr>
          <p:cNvPr id="65" name="Google Shape;65;p14" title="Branco.png"/>
          <p:cNvPicPr preferRelativeResize="0"/>
          <p:nvPr/>
        </p:nvPicPr>
        <p:blipFill rotWithShape="1">
          <a:blip r:embed="rId4">
            <a:alphaModFix/>
          </a:blip>
          <a:srcRect b="0" l="0" r="0" t="0"/>
          <a:stretch/>
        </p:blipFill>
        <p:spPr>
          <a:xfrm>
            <a:off x="6843825" y="217963"/>
            <a:ext cx="1702576" cy="319775"/>
          </a:xfrm>
          <a:prstGeom prst="rect">
            <a:avLst/>
          </a:prstGeom>
          <a:noFill/>
          <a:ln>
            <a:noFill/>
          </a:ln>
        </p:spPr>
      </p:pic>
      <p:sp>
        <p:nvSpPr>
          <p:cNvPr id="66" name="Google Shape;66;p14"/>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FFFFFF"/>
                </a:solidFill>
                <a:latin typeface="Poppins"/>
                <a:ea typeface="Poppins"/>
                <a:cs typeface="Poppins"/>
                <a:sym typeface="Poppins"/>
              </a:rPr>
              <a:t>Prospecção por Mensagem</a:t>
            </a:r>
            <a:endParaRPr>
              <a:solidFill>
                <a:srgbClr val="FFFFFF"/>
              </a:solidFill>
              <a:latin typeface="Poppins"/>
              <a:ea typeface="Poppins"/>
              <a:cs typeface="Poppins"/>
              <a:sym typeface="Poppins"/>
            </a:endParaRPr>
          </a:p>
        </p:txBody>
      </p:sp>
      <p:sp>
        <p:nvSpPr>
          <p:cNvPr id="67" name="Google Shape;67;p14"/>
          <p:cNvSpPr/>
          <p:nvPr/>
        </p:nvSpPr>
        <p:spPr>
          <a:xfrm rot="-2418311">
            <a:off x="-1296225" y="4292266"/>
            <a:ext cx="2581398" cy="1156373"/>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p:nvPr/>
        </p:nvSpPr>
        <p:spPr>
          <a:xfrm rot="1560490">
            <a:off x="8206599" y="2432425"/>
            <a:ext cx="2581305" cy="1068401"/>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 name="Google Shape;69;p14"/>
          <p:cNvPicPr preferRelativeResize="0"/>
          <p:nvPr/>
        </p:nvPicPr>
        <p:blipFill>
          <a:blip r:embed="rId5">
            <a:alphaModFix/>
          </a:blip>
          <a:stretch>
            <a:fillRect/>
          </a:stretch>
        </p:blipFill>
        <p:spPr>
          <a:xfrm>
            <a:off x="3041775" y="3120378"/>
            <a:ext cx="3205325" cy="619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cxnSp>
        <p:nvCxnSpPr>
          <p:cNvPr id="74" name="Google Shape;74;p15"/>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75" name="Google Shape;75;p15"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76" name="Google Shape;76;p15"/>
          <p:cNvSpPr txBox="1"/>
          <p:nvPr/>
        </p:nvSpPr>
        <p:spPr>
          <a:xfrm>
            <a:off x="419525" y="817738"/>
            <a:ext cx="8011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O que você </a:t>
            </a:r>
            <a:r>
              <a:rPr b="1" lang="pt-BR" sz="3150" u="sng">
                <a:solidFill>
                  <a:srgbClr val="0044A4"/>
                </a:solidFill>
                <a:latin typeface="Poppins"/>
                <a:ea typeface="Poppins"/>
                <a:cs typeface="Poppins"/>
                <a:sym typeface="Poppins"/>
              </a:rPr>
              <a:t>NÃO</a:t>
            </a:r>
            <a:r>
              <a:rPr b="1" lang="pt-BR" sz="3150">
                <a:solidFill>
                  <a:srgbClr val="0044A4"/>
                </a:solidFill>
                <a:latin typeface="Poppins"/>
                <a:ea typeface="Poppins"/>
                <a:cs typeface="Poppins"/>
                <a:sym typeface="Poppins"/>
              </a:rPr>
              <a:t> VAI FAZER</a:t>
            </a:r>
            <a:endParaRPr b="1" sz="9900">
              <a:solidFill>
                <a:srgbClr val="0044A4"/>
              </a:solidFill>
              <a:latin typeface="Poppins"/>
              <a:ea typeface="Poppins"/>
              <a:cs typeface="Poppins"/>
              <a:sym typeface="Poppins"/>
            </a:endParaRPr>
          </a:p>
        </p:txBody>
      </p:sp>
      <p:sp>
        <p:nvSpPr>
          <p:cNvPr id="77" name="Google Shape;77;p15"/>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
        <p:nvSpPr>
          <p:cNvPr id="78" name="Google Shape;78;p15"/>
          <p:cNvSpPr txBox="1"/>
          <p:nvPr/>
        </p:nvSpPr>
        <p:spPr>
          <a:xfrm>
            <a:off x="419525" y="1779075"/>
            <a:ext cx="4440000" cy="1877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Se preocupar em ultrapersonalizar sua abordagem;</a:t>
            </a:r>
            <a:endParaRPr sz="1100">
              <a:solidFill>
                <a:schemeClr val="dk1"/>
              </a:solidFill>
              <a:latin typeface="Poppins Medium"/>
              <a:ea typeface="Poppins Medium"/>
              <a:cs typeface="Poppins Medium"/>
              <a:sym typeface="Poppins Medium"/>
            </a:endParaRPr>
          </a:p>
          <a:p>
            <a:pPr indent="0" lvl="0" marL="45720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Fazer uma abordagem sem script ou script ruim;</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Fazer 30 prospec</a:t>
            </a:r>
            <a:r>
              <a:rPr lang="pt-BR" sz="1100">
                <a:solidFill>
                  <a:schemeClr val="dk1"/>
                </a:solidFill>
                <a:latin typeface="Poppins Medium"/>
                <a:ea typeface="Poppins Medium"/>
                <a:cs typeface="Poppins Medium"/>
                <a:sym typeface="Poppins Medium"/>
              </a:rPr>
              <a:t>ções e parar porque não fechou nenhum cliente;</a:t>
            </a:r>
            <a:endParaRPr sz="1100">
              <a:solidFill>
                <a:schemeClr val="dk1"/>
              </a:solidFill>
              <a:latin typeface="Poppins Medium"/>
              <a:ea typeface="Poppins Medium"/>
              <a:cs typeface="Poppins Medium"/>
              <a:sym typeface="Poppins Medium"/>
            </a:endParaRPr>
          </a:p>
          <a:p>
            <a:pPr indent="0" lvl="0" marL="45720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Ficar um dia sem prospectar;</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N</a:t>
            </a:r>
            <a:r>
              <a:rPr lang="pt-BR" sz="1100">
                <a:solidFill>
                  <a:schemeClr val="dk1"/>
                </a:solidFill>
                <a:latin typeface="Poppins Medium"/>
                <a:ea typeface="Poppins Medium"/>
                <a:cs typeface="Poppins Medium"/>
                <a:sym typeface="Poppins Medium"/>
              </a:rPr>
              <a:t>ão ter uma rotina comercial.</a:t>
            </a:r>
            <a:endParaRPr sz="1100">
              <a:solidFill>
                <a:schemeClr val="dk1"/>
              </a:solidFill>
              <a:highlight>
                <a:srgbClr val="FFFFFF"/>
              </a:highlight>
              <a:latin typeface="Poppins Medium"/>
              <a:ea typeface="Poppins Medium"/>
              <a:cs typeface="Poppins Medium"/>
              <a:sym typeface="Poppi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cxnSp>
        <p:nvCxnSpPr>
          <p:cNvPr id="83" name="Google Shape;83;p16"/>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84" name="Google Shape;84;p16"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85" name="Google Shape;85;p16"/>
          <p:cNvSpPr txBox="1"/>
          <p:nvPr/>
        </p:nvSpPr>
        <p:spPr>
          <a:xfrm>
            <a:off x="419525" y="817750"/>
            <a:ext cx="65229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ROTINA COMERCIAL</a:t>
            </a:r>
            <a:endParaRPr b="1" sz="9900">
              <a:solidFill>
                <a:srgbClr val="0044A4"/>
              </a:solidFill>
              <a:latin typeface="Poppins"/>
              <a:ea typeface="Poppins"/>
              <a:cs typeface="Poppins"/>
              <a:sym typeface="Poppins"/>
            </a:endParaRPr>
          </a:p>
        </p:txBody>
      </p:sp>
      <p:sp>
        <p:nvSpPr>
          <p:cNvPr id="86" name="Google Shape;86;p16"/>
          <p:cNvSpPr txBox="1"/>
          <p:nvPr/>
        </p:nvSpPr>
        <p:spPr>
          <a:xfrm>
            <a:off x="419525" y="1578025"/>
            <a:ext cx="8127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44A4"/>
                </a:solidFill>
                <a:latin typeface="Poppins"/>
                <a:ea typeface="Poppins"/>
                <a:cs typeface="Poppins"/>
                <a:sym typeface="Poppins"/>
              </a:rPr>
              <a:t>O que é Rotina Comercial?</a:t>
            </a:r>
            <a:endParaRPr b="1" sz="1200">
              <a:solidFill>
                <a:srgbClr val="0044A4"/>
              </a:solidFill>
              <a:latin typeface="Poppins"/>
              <a:ea typeface="Poppins"/>
              <a:cs typeface="Poppins"/>
              <a:sym typeface="Poppins"/>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É quando você tem uma frequência de horários pré-estabelecidos na sua agenda, reservado exclusivamente para executar alguma atividade relacionada à área comercial da sua empresa.</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Faça um pouco todos os dias, assim, no final do mês, você terá feito muito.</a:t>
            </a:r>
            <a:endParaRPr sz="1100">
              <a:solidFill>
                <a:schemeClr val="dk1"/>
              </a:solidFill>
              <a:latin typeface="Poppins Medium"/>
              <a:ea typeface="Poppins Medium"/>
              <a:cs typeface="Poppins Medium"/>
              <a:sym typeface="Poppins Medium"/>
            </a:endParaRPr>
          </a:p>
        </p:txBody>
      </p:sp>
      <p:sp>
        <p:nvSpPr>
          <p:cNvPr id="87" name="Google Shape;87;p16"/>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
        <p:nvSpPr>
          <p:cNvPr id="88" name="Google Shape;88;p16"/>
          <p:cNvSpPr txBox="1"/>
          <p:nvPr/>
        </p:nvSpPr>
        <p:spPr>
          <a:xfrm>
            <a:off x="419525" y="2715400"/>
            <a:ext cx="81270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44A4"/>
                </a:solidFill>
                <a:latin typeface="Poppins"/>
                <a:ea typeface="Poppins"/>
                <a:cs typeface="Poppins"/>
                <a:sym typeface="Poppins"/>
              </a:rPr>
              <a:t>Como organizar sua rotina comercial?</a:t>
            </a:r>
            <a:endParaRPr b="1" sz="1200">
              <a:solidFill>
                <a:srgbClr val="0044A4"/>
              </a:solidFill>
              <a:latin typeface="Poppins"/>
              <a:ea typeface="Poppins"/>
              <a:cs typeface="Poppins"/>
              <a:sym typeface="Poppins"/>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Definir um horário na sua agenda para você PROSPECTAR;</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Deu o horário? Para o que estiver fazendo e prospecta.</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Sobrou tempo na agenda, vou estudar? Não! Vai PROSPECTAR.</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Todo santo dia você precisa enviar abordagens de prospecções para novas pessoas.</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cxnSp>
        <p:nvCxnSpPr>
          <p:cNvPr id="93" name="Google Shape;93;p17"/>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94" name="Google Shape;94;p17"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95" name="Google Shape;95;p17"/>
          <p:cNvSpPr txBox="1"/>
          <p:nvPr/>
        </p:nvSpPr>
        <p:spPr>
          <a:xfrm>
            <a:off x="419525" y="817738"/>
            <a:ext cx="8011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COMO IMPLEMENTAR</a:t>
            </a:r>
            <a:endParaRPr b="1" sz="9900">
              <a:solidFill>
                <a:srgbClr val="0044A4"/>
              </a:solidFill>
              <a:latin typeface="Poppins"/>
              <a:ea typeface="Poppins"/>
              <a:cs typeface="Poppins"/>
              <a:sym typeface="Poppins"/>
            </a:endParaRPr>
          </a:p>
        </p:txBody>
      </p:sp>
      <p:cxnSp>
        <p:nvCxnSpPr>
          <p:cNvPr id="96" name="Google Shape;96;p17"/>
          <p:cNvCxnSpPr/>
          <p:nvPr/>
        </p:nvCxnSpPr>
        <p:spPr>
          <a:xfrm flipH="1" rot="10800000">
            <a:off x="5140150" y="1662900"/>
            <a:ext cx="5400" cy="3480600"/>
          </a:xfrm>
          <a:prstGeom prst="straightConnector1">
            <a:avLst/>
          </a:prstGeom>
          <a:noFill/>
          <a:ln cap="flat" cmpd="sng" w="9525">
            <a:solidFill>
              <a:srgbClr val="0044A4"/>
            </a:solidFill>
            <a:prstDash val="solid"/>
            <a:round/>
            <a:headEnd len="med" w="med" type="none"/>
            <a:tailEnd len="med" w="med" type="none"/>
          </a:ln>
        </p:spPr>
      </p:cxnSp>
      <p:sp>
        <p:nvSpPr>
          <p:cNvPr id="97" name="Google Shape;97;p17"/>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
        <p:nvSpPr>
          <p:cNvPr id="98" name="Google Shape;98;p17"/>
          <p:cNvSpPr txBox="1"/>
          <p:nvPr/>
        </p:nvSpPr>
        <p:spPr>
          <a:xfrm>
            <a:off x="5938525" y="1619350"/>
            <a:ext cx="27870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00">
                <a:solidFill>
                  <a:srgbClr val="0044A4"/>
                </a:solidFill>
                <a:latin typeface="Poppins"/>
                <a:ea typeface="Poppins"/>
                <a:cs typeface="Poppins"/>
                <a:sym typeface="Poppins"/>
              </a:rPr>
              <a:t>Estrutura de um BOM SCRIPT:</a:t>
            </a:r>
            <a:r>
              <a:rPr lang="pt-BR" sz="1100">
                <a:solidFill>
                  <a:schemeClr val="dk1"/>
                </a:solidFill>
                <a:latin typeface="Poppins Medium"/>
                <a:ea typeface="Poppins Medium"/>
                <a:cs typeface="Poppins Medium"/>
                <a:sym typeface="Poppins Medium"/>
              </a:rPr>
              <a:t>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Saudação;</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Apresentação (quem sou eu + o que eu faço + ponto de conexão com o nicho);</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Motivo do meu contato;</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rgbClr val="0395FF"/>
              </a:buClr>
              <a:buSzPts val="1100"/>
              <a:buFont typeface="Poppins Medium"/>
              <a:buChar char="●"/>
            </a:pPr>
            <a:r>
              <a:rPr lang="pt-BR" sz="1100">
                <a:solidFill>
                  <a:schemeClr val="dk1"/>
                </a:solidFill>
                <a:latin typeface="Poppins Medium"/>
                <a:ea typeface="Poppins Medium"/>
                <a:cs typeface="Poppins Medium"/>
                <a:sym typeface="Poppins Medium"/>
              </a:rPr>
              <a:t>CTA simples e de fácil aceitação.</a:t>
            </a:r>
            <a:endParaRPr sz="1100">
              <a:solidFill>
                <a:schemeClr val="dk1"/>
              </a:solidFill>
              <a:latin typeface="Poppins Medium"/>
              <a:ea typeface="Poppins Medium"/>
              <a:cs typeface="Poppins Medium"/>
              <a:sym typeface="Poppins Medium"/>
            </a:endParaRPr>
          </a:p>
          <a:p>
            <a:pPr indent="0" lvl="0" marL="45720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p:txBody>
      </p:sp>
      <p:sp>
        <p:nvSpPr>
          <p:cNvPr id="99" name="Google Shape;99;p17"/>
          <p:cNvSpPr txBox="1"/>
          <p:nvPr/>
        </p:nvSpPr>
        <p:spPr>
          <a:xfrm>
            <a:off x="5496225" y="1562768"/>
            <a:ext cx="529200" cy="4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4</a:t>
            </a:r>
            <a:r>
              <a:rPr lang="pt-BR" sz="2600">
                <a:solidFill>
                  <a:srgbClr val="0395FF"/>
                </a:solidFill>
                <a:latin typeface="Poppins Black"/>
                <a:ea typeface="Poppins Black"/>
                <a:cs typeface="Poppins Black"/>
                <a:sym typeface="Poppins Black"/>
              </a:rPr>
              <a:t>.</a:t>
            </a:r>
            <a:endParaRPr sz="2600">
              <a:solidFill>
                <a:srgbClr val="0395FF"/>
              </a:solidFill>
              <a:latin typeface="Poppins Black"/>
              <a:ea typeface="Poppins Black"/>
              <a:cs typeface="Poppins Black"/>
              <a:sym typeface="Poppins Black"/>
            </a:endParaRPr>
          </a:p>
        </p:txBody>
      </p:sp>
      <p:pic>
        <p:nvPicPr>
          <p:cNvPr id="100" name="Google Shape;100;p17"/>
          <p:cNvPicPr preferRelativeResize="0"/>
          <p:nvPr/>
        </p:nvPicPr>
        <p:blipFill>
          <a:blip r:embed="rId4">
            <a:alphaModFix/>
          </a:blip>
          <a:stretch>
            <a:fillRect/>
          </a:stretch>
        </p:blipFill>
        <p:spPr>
          <a:xfrm rot="10799997">
            <a:off x="1779640" y="806251"/>
            <a:ext cx="3175824" cy="747248"/>
          </a:xfrm>
          <a:prstGeom prst="rect">
            <a:avLst/>
          </a:prstGeom>
          <a:noFill/>
          <a:ln>
            <a:noFill/>
          </a:ln>
        </p:spPr>
      </p:pic>
      <p:sp>
        <p:nvSpPr>
          <p:cNvPr id="101" name="Google Shape;101;p17"/>
          <p:cNvSpPr txBox="1"/>
          <p:nvPr/>
        </p:nvSpPr>
        <p:spPr>
          <a:xfrm>
            <a:off x="811875" y="1732125"/>
            <a:ext cx="2787000" cy="306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00">
                <a:solidFill>
                  <a:srgbClr val="0044A4"/>
                </a:solidFill>
                <a:latin typeface="Poppins"/>
                <a:ea typeface="Poppins"/>
                <a:cs typeface="Poppins"/>
                <a:sym typeface="Poppins"/>
              </a:rPr>
              <a:t>Defina um nicho: </a:t>
            </a:r>
            <a:endParaRPr b="1" sz="1100">
              <a:solidFill>
                <a:srgbClr val="0044A4"/>
              </a:solidFill>
              <a:latin typeface="Poppins"/>
              <a:ea typeface="Poppins"/>
              <a:cs typeface="Poppins"/>
              <a:sym typeface="Poppins"/>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Como essa empresa se relaciona com os clientes?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Qual a maior dor?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Quais os principais desafios?</a:t>
            </a:r>
            <a:endParaRPr sz="1100">
              <a:solidFill>
                <a:schemeClr val="dk1"/>
              </a:solidFill>
              <a:latin typeface="Poppins Medium"/>
              <a:ea typeface="Poppins Medium"/>
              <a:cs typeface="Poppins Medium"/>
              <a:sym typeface="Poppins Medium"/>
            </a:endParaRPr>
          </a:p>
          <a:p>
            <a:pPr indent="0" lvl="0" marL="45720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b="1" lang="pt-BR" sz="1100">
                <a:solidFill>
                  <a:srgbClr val="0044A4"/>
                </a:solidFill>
                <a:latin typeface="Poppins"/>
                <a:ea typeface="Poppins"/>
                <a:cs typeface="Poppins"/>
                <a:sym typeface="Poppins"/>
              </a:rPr>
              <a:t>Encontre um ponto de conexão com o nicho:</a:t>
            </a:r>
            <a:r>
              <a:rPr b="1" lang="pt-BR" sz="1100">
                <a:solidFill>
                  <a:srgbClr val="0044A4"/>
                </a:solidFill>
                <a:latin typeface="Poppins"/>
                <a:ea typeface="Poppins"/>
                <a:cs typeface="Poppins"/>
                <a:sym typeface="Poppins"/>
              </a:rPr>
              <a:t> </a:t>
            </a:r>
            <a:br>
              <a:rPr b="1" lang="pt-BR" sz="1100">
                <a:solidFill>
                  <a:srgbClr val="0044A4"/>
                </a:solidFill>
                <a:latin typeface="Poppins"/>
                <a:ea typeface="Poppins"/>
                <a:cs typeface="Poppins"/>
                <a:sym typeface="Poppins"/>
              </a:rPr>
            </a:br>
            <a:r>
              <a:rPr i="1" lang="pt-BR" sz="1100">
                <a:solidFill>
                  <a:schemeClr val="dk1"/>
                </a:solidFill>
                <a:latin typeface="Poppins Medium"/>
                <a:ea typeface="Poppins Medium"/>
                <a:cs typeface="Poppins Medium"/>
                <a:sym typeface="Poppins Medium"/>
              </a:rPr>
              <a:t>Advogado</a:t>
            </a:r>
            <a:r>
              <a:rPr lang="pt-BR" sz="1100">
                <a:solidFill>
                  <a:schemeClr val="dk1"/>
                </a:solidFill>
                <a:latin typeface="Poppins Medium"/>
                <a:ea typeface="Poppins Medium"/>
                <a:cs typeface="Poppins Medium"/>
                <a:sym typeface="Poppins Medium"/>
              </a:rPr>
              <a:t>: morre de medo da OAB, acha que quem faz anúncio ta errado, só vende por indicação.</a:t>
            </a:r>
            <a:r>
              <a:rPr lang="pt-BR" sz="1100">
                <a:solidFill>
                  <a:schemeClr val="dk1"/>
                </a:solidFill>
                <a:latin typeface="Poppins Medium"/>
                <a:ea typeface="Poppins Medium"/>
                <a:cs typeface="Poppins Medium"/>
                <a:sym typeface="Poppins Medium"/>
              </a:rPr>
              <a:t> </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b="1" lang="pt-BR" sz="1100">
                <a:solidFill>
                  <a:srgbClr val="0044A4"/>
                </a:solidFill>
                <a:latin typeface="Poppins"/>
                <a:ea typeface="Poppins"/>
                <a:cs typeface="Poppins"/>
                <a:sym typeface="Poppins"/>
              </a:rPr>
              <a:t>Crie um SCRIPT:</a:t>
            </a:r>
            <a:r>
              <a:rPr b="1" lang="pt-BR" sz="1100">
                <a:solidFill>
                  <a:srgbClr val="0044A4"/>
                </a:solidFill>
                <a:latin typeface="Poppins"/>
                <a:ea typeface="Poppins"/>
                <a:cs typeface="Poppins"/>
                <a:sym typeface="Poppins"/>
              </a:rPr>
              <a:t> </a:t>
            </a:r>
            <a:r>
              <a:rPr lang="pt-BR" sz="1100">
                <a:solidFill>
                  <a:schemeClr val="dk1"/>
                </a:solidFill>
                <a:latin typeface="Poppins Medium"/>
                <a:ea typeface="Poppins Medium"/>
                <a:cs typeface="Poppins Medium"/>
                <a:sym typeface="Poppins Medium"/>
              </a:rPr>
              <a:t>Um bom script vai garantir que todos os pontos essenciais sejam abordados; Diminui as chances de você errar;</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lang="pt-BR" sz="1100">
                <a:solidFill>
                  <a:schemeClr val="dk1"/>
                </a:solidFill>
                <a:latin typeface="Poppins Medium"/>
                <a:ea typeface="Poppins Medium"/>
                <a:cs typeface="Poppins Medium"/>
                <a:sym typeface="Poppins Medium"/>
              </a:rPr>
              <a:t>Fácil integração do time.</a:t>
            </a:r>
            <a:endParaRPr sz="1100">
              <a:solidFill>
                <a:schemeClr val="dk1"/>
              </a:solidFill>
              <a:latin typeface="Poppins Medium"/>
              <a:ea typeface="Poppins Medium"/>
              <a:cs typeface="Poppins Medium"/>
              <a:sym typeface="Poppins Medium"/>
            </a:endParaRPr>
          </a:p>
        </p:txBody>
      </p:sp>
      <p:sp>
        <p:nvSpPr>
          <p:cNvPr id="102" name="Google Shape;102;p17"/>
          <p:cNvSpPr txBox="1"/>
          <p:nvPr/>
        </p:nvSpPr>
        <p:spPr>
          <a:xfrm>
            <a:off x="419525" y="1685375"/>
            <a:ext cx="432300" cy="4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1.</a:t>
            </a:r>
            <a:endParaRPr sz="2600">
              <a:solidFill>
                <a:srgbClr val="0395FF"/>
              </a:solidFill>
              <a:latin typeface="Poppins Black"/>
              <a:ea typeface="Poppins Black"/>
              <a:cs typeface="Poppins Black"/>
              <a:sym typeface="Poppins Black"/>
            </a:endParaRPr>
          </a:p>
        </p:txBody>
      </p:sp>
      <p:sp>
        <p:nvSpPr>
          <p:cNvPr id="103" name="Google Shape;103;p17"/>
          <p:cNvSpPr txBox="1"/>
          <p:nvPr/>
        </p:nvSpPr>
        <p:spPr>
          <a:xfrm>
            <a:off x="419525" y="2698867"/>
            <a:ext cx="5292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2.</a:t>
            </a:r>
            <a:endParaRPr sz="2600">
              <a:solidFill>
                <a:srgbClr val="0395FF"/>
              </a:solidFill>
              <a:latin typeface="Poppins Black"/>
              <a:ea typeface="Poppins Black"/>
              <a:cs typeface="Poppins Black"/>
              <a:sym typeface="Poppins Black"/>
            </a:endParaRPr>
          </a:p>
        </p:txBody>
      </p:sp>
      <p:sp>
        <p:nvSpPr>
          <p:cNvPr id="104" name="Google Shape;104;p17"/>
          <p:cNvSpPr txBox="1"/>
          <p:nvPr/>
        </p:nvSpPr>
        <p:spPr>
          <a:xfrm>
            <a:off x="419525" y="3716377"/>
            <a:ext cx="5292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3.</a:t>
            </a:r>
            <a:endParaRPr sz="2600">
              <a:solidFill>
                <a:srgbClr val="0395FF"/>
              </a:solidFill>
              <a:latin typeface="Poppins Black"/>
              <a:ea typeface="Poppins Black"/>
              <a:cs typeface="Poppins Black"/>
              <a:sym typeface="Poppins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8" title="LO2_UniversoSubido_PPT_bg.png"/>
          <p:cNvPicPr preferRelativeResize="0"/>
          <p:nvPr/>
        </p:nvPicPr>
        <p:blipFill>
          <a:blip r:embed="rId3">
            <a:alphaModFix/>
          </a:blip>
          <a:stretch>
            <a:fillRect/>
          </a:stretch>
        </p:blipFill>
        <p:spPr>
          <a:xfrm>
            <a:off x="0" y="0"/>
            <a:ext cx="9143981" cy="5143500"/>
          </a:xfrm>
          <a:prstGeom prst="rect">
            <a:avLst/>
          </a:prstGeom>
          <a:noFill/>
          <a:ln>
            <a:noFill/>
          </a:ln>
        </p:spPr>
      </p:pic>
      <p:sp>
        <p:nvSpPr>
          <p:cNvPr id="110" name="Google Shape;110;p18"/>
          <p:cNvSpPr txBox="1"/>
          <p:nvPr/>
        </p:nvSpPr>
        <p:spPr>
          <a:xfrm>
            <a:off x="2030400" y="1933050"/>
            <a:ext cx="5083200" cy="1277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550">
                <a:solidFill>
                  <a:schemeClr val="lt1"/>
                </a:solidFill>
                <a:latin typeface="Poppins"/>
                <a:ea typeface="Poppins"/>
                <a:cs typeface="Poppins"/>
                <a:sym typeface="Poppins"/>
              </a:rPr>
              <a:t>Framework de um </a:t>
            </a:r>
            <a:endParaRPr b="1" sz="3550">
              <a:solidFill>
                <a:schemeClr val="lt1"/>
              </a:solidFill>
              <a:latin typeface="Poppins"/>
              <a:ea typeface="Poppins"/>
              <a:cs typeface="Poppins"/>
              <a:sym typeface="Poppins"/>
            </a:endParaRPr>
          </a:p>
          <a:p>
            <a:pPr indent="0" lvl="0" marL="0" rtl="0" algn="ctr">
              <a:spcBef>
                <a:spcPts val="0"/>
              </a:spcBef>
              <a:spcAft>
                <a:spcPts val="0"/>
              </a:spcAft>
              <a:buNone/>
            </a:pPr>
            <a:r>
              <a:rPr b="1" lang="pt-BR" sz="3550">
                <a:solidFill>
                  <a:schemeClr val="lt1"/>
                </a:solidFill>
                <a:latin typeface="Poppins"/>
                <a:ea typeface="Poppins"/>
                <a:cs typeface="Poppins"/>
                <a:sym typeface="Poppins"/>
              </a:rPr>
              <a:t>BOM SCRIPT</a:t>
            </a:r>
            <a:endParaRPr b="1" sz="10300">
              <a:solidFill>
                <a:schemeClr val="lt1"/>
              </a:solidFill>
              <a:latin typeface="Poppins"/>
              <a:ea typeface="Poppins"/>
              <a:cs typeface="Poppins"/>
              <a:sym typeface="Poppins"/>
            </a:endParaRPr>
          </a:p>
        </p:txBody>
      </p:sp>
      <p:cxnSp>
        <p:nvCxnSpPr>
          <p:cNvPr id="111" name="Google Shape;111;p18"/>
          <p:cNvCxnSpPr/>
          <p:nvPr/>
        </p:nvCxnSpPr>
        <p:spPr>
          <a:xfrm>
            <a:off x="-11862" y="755675"/>
            <a:ext cx="9167700" cy="0"/>
          </a:xfrm>
          <a:prstGeom prst="straightConnector1">
            <a:avLst/>
          </a:prstGeom>
          <a:noFill/>
          <a:ln cap="flat" cmpd="sng" w="9525">
            <a:solidFill>
              <a:srgbClr val="FFFFFF"/>
            </a:solidFill>
            <a:prstDash val="solid"/>
            <a:round/>
            <a:headEnd len="med" w="med" type="none"/>
            <a:tailEnd len="med" w="med" type="none"/>
          </a:ln>
        </p:spPr>
      </p:cxnSp>
      <p:pic>
        <p:nvPicPr>
          <p:cNvPr id="112" name="Google Shape;112;p18" title="Branco.png"/>
          <p:cNvPicPr preferRelativeResize="0"/>
          <p:nvPr/>
        </p:nvPicPr>
        <p:blipFill rotWithShape="1">
          <a:blip r:embed="rId4">
            <a:alphaModFix/>
          </a:blip>
          <a:srcRect b="0" l="0" r="0" t="0"/>
          <a:stretch/>
        </p:blipFill>
        <p:spPr>
          <a:xfrm>
            <a:off x="6843825" y="217963"/>
            <a:ext cx="1702576" cy="319775"/>
          </a:xfrm>
          <a:prstGeom prst="rect">
            <a:avLst/>
          </a:prstGeom>
          <a:noFill/>
          <a:ln>
            <a:noFill/>
          </a:ln>
        </p:spPr>
      </p:pic>
      <p:sp>
        <p:nvSpPr>
          <p:cNvPr id="113" name="Google Shape;113;p18"/>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FFFFFF"/>
                </a:solidFill>
                <a:latin typeface="Poppins"/>
                <a:ea typeface="Poppins"/>
                <a:cs typeface="Poppins"/>
                <a:sym typeface="Poppins"/>
              </a:rPr>
              <a:t>Prospecção por Mensagem</a:t>
            </a:r>
            <a:endParaRPr>
              <a:solidFill>
                <a:srgbClr val="FFFFFF"/>
              </a:solidFill>
              <a:latin typeface="Poppins"/>
              <a:ea typeface="Poppins"/>
              <a:cs typeface="Poppins"/>
              <a:sym typeface="Poppins"/>
            </a:endParaRPr>
          </a:p>
        </p:txBody>
      </p:sp>
      <p:sp>
        <p:nvSpPr>
          <p:cNvPr id="114" name="Google Shape;114;p18"/>
          <p:cNvSpPr/>
          <p:nvPr/>
        </p:nvSpPr>
        <p:spPr>
          <a:xfrm rot="-2418311">
            <a:off x="-1296225" y="4292266"/>
            <a:ext cx="2581398" cy="1156373"/>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8"/>
          <p:cNvSpPr/>
          <p:nvPr/>
        </p:nvSpPr>
        <p:spPr>
          <a:xfrm rot="1560490">
            <a:off x="8206599" y="2432425"/>
            <a:ext cx="2581305" cy="1068401"/>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cxnSp>
        <p:nvCxnSpPr>
          <p:cNvPr id="120" name="Google Shape;120;p19"/>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121" name="Google Shape;121;p19"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122" name="Google Shape;122;p19"/>
          <p:cNvSpPr txBox="1"/>
          <p:nvPr/>
        </p:nvSpPr>
        <p:spPr>
          <a:xfrm>
            <a:off x="419525" y="817750"/>
            <a:ext cx="6522900" cy="669600"/>
          </a:xfrm>
          <a:prstGeom prst="rect">
            <a:avLst/>
          </a:prstGeom>
          <a:noFill/>
          <a:ln>
            <a:noFill/>
          </a:ln>
        </p:spPr>
        <p:txBody>
          <a:bodyPr anchorCtr="0" anchor="t" bIns="91425" lIns="91425" spcFirstLastPara="1" rIns="91425" wrap="square" tIns="91425">
            <a:spAutoFit/>
          </a:bodyPr>
          <a:lstStyle/>
          <a:p>
            <a:pPr indent="-428625" lvl="0" marL="457200" rtl="0" algn="l">
              <a:spcBef>
                <a:spcPts val="0"/>
              </a:spcBef>
              <a:spcAft>
                <a:spcPts val="0"/>
              </a:spcAft>
              <a:buClr>
                <a:srgbClr val="0044A4"/>
              </a:buClr>
              <a:buSzPts val="3150"/>
              <a:buFont typeface="Poppins"/>
              <a:buAutoNum type="arabicPeriod"/>
            </a:pPr>
            <a:r>
              <a:rPr b="1" lang="pt-BR" sz="3150">
                <a:solidFill>
                  <a:srgbClr val="0044A4"/>
                </a:solidFill>
                <a:latin typeface="Poppins"/>
                <a:ea typeface="Poppins"/>
                <a:cs typeface="Poppins"/>
                <a:sym typeface="Poppins"/>
              </a:rPr>
              <a:t>SAUDAÇÃO</a:t>
            </a:r>
            <a:endParaRPr b="1" sz="9900">
              <a:solidFill>
                <a:srgbClr val="0044A4"/>
              </a:solidFill>
              <a:latin typeface="Poppins"/>
              <a:ea typeface="Poppins"/>
              <a:cs typeface="Poppins"/>
              <a:sym typeface="Poppins"/>
            </a:endParaRPr>
          </a:p>
        </p:txBody>
      </p:sp>
      <p:sp>
        <p:nvSpPr>
          <p:cNvPr id="123" name="Google Shape;123;p19"/>
          <p:cNvSpPr txBox="1"/>
          <p:nvPr/>
        </p:nvSpPr>
        <p:spPr>
          <a:xfrm>
            <a:off x="419525" y="1578025"/>
            <a:ext cx="8127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44A4"/>
                </a:solidFill>
                <a:latin typeface="Poppins"/>
                <a:ea typeface="Poppins"/>
                <a:cs typeface="Poppins"/>
                <a:sym typeface="Poppins"/>
              </a:rPr>
              <a:t>Literalmente, uma saudação:</a:t>
            </a:r>
            <a:endParaRPr b="1" sz="1200">
              <a:solidFill>
                <a:srgbClr val="0044A4"/>
              </a:solidFill>
              <a:latin typeface="Poppins"/>
              <a:ea typeface="Poppins"/>
              <a:cs typeface="Poppins"/>
              <a:sym typeface="Poppins"/>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Bom diaa, FULANO, tudo bem?</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Boa tardee, FULANO, como vai??</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Boa noitee, FULANO, tudo certo?</a:t>
            </a:r>
            <a:endParaRPr i="1" sz="1100">
              <a:solidFill>
                <a:schemeClr val="dk1"/>
              </a:solidFill>
              <a:latin typeface="Poppins Medium"/>
              <a:ea typeface="Poppins Medium"/>
              <a:cs typeface="Poppins Medium"/>
              <a:sym typeface="Poppins Medium"/>
            </a:endParaRPr>
          </a:p>
        </p:txBody>
      </p:sp>
      <p:sp>
        <p:nvSpPr>
          <p:cNvPr id="124" name="Google Shape;124;p19"/>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cxnSp>
        <p:nvCxnSpPr>
          <p:cNvPr id="129" name="Google Shape;129;p20"/>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130" name="Google Shape;130;p20"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131" name="Google Shape;131;p20"/>
          <p:cNvSpPr txBox="1"/>
          <p:nvPr/>
        </p:nvSpPr>
        <p:spPr>
          <a:xfrm>
            <a:off x="419525" y="817750"/>
            <a:ext cx="65229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2. APRESENTAÇÃO</a:t>
            </a:r>
            <a:endParaRPr b="1" sz="9900">
              <a:solidFill>
                <a:srgbClr val="0044A4"/>
              </a:solidFill>
              <a:latin typeface="Poppins"/>
              <a:ea typeface="Poppins"/>
              <a:cs typeface="Poppins"/>
              <a:sym typeface="Poppins"/>
            </a:endParaRPr>
          </a:p>
        </p:txBody>
      </p:sp>
      <p:sp>
        <p:nvSpPr>
          <p:cNvPr id="132" name="Google Shape;132;p20"/>
          <p:cNvSpPr txBox="1"/>
          <p:nvPr/>
        </p:nvSpPr>
        <p:spPr>
          <a:xfrm>
            <a:off x="419525" y="1578025"/>
            <a:ext cx="81270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44A4"/>
                </a:solidFill>
                <a:latin typeface="Poppins"/>
                <a:ea typeface="Poppins"/>
                <a:cs typeface="Poppins"/>
                <a:sym typeface="Poppins"/>
              </a:rPr>
              <a:t>Se apresente de forma breve, explicando qual transformação você gera e coloque o primeiro ponto de conexão com o nicho.</a:t>
            </a:r>
            <a:endParaRPr b="1" sz="1200">
              <a:solidFill>
                <a:srgbClr val="0044A4"/>
              </a:solidFill>
              <a:latin typeface="Poppins"/>
              <a:ea typeface="Poppins"/>
              <a:cs typeface="Poppins"/>
              <a:sym typeface="Poppins"/>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Fulano, me chamo Subido, sou especialista em Marketing Jur</a:t>
            </a:r>
            <a:r>
              <a:rPr i="1" lang="pt-BR" sz="1100">
                <a:solidFill>
                  <a:schemeClr val="dk1"/>
                </a:solidFill>
                <a:latin typeface="Poppins Medium"/>
                <a:ea typeface="Poppins Medium"/>
                <a:cs typeface="Poppins Medium"/>
                <a:sym typeface="Poppins Medium"/>
              </a:rPr>
              <a:t>ídico e ajudo advogados e escritórios de advocacia a conseguirem mais clientes qualificados de forma previsível e ética através da internet para não depender apenas de indicação, sempre respeitando todas as normas e diretrizes da OAB.</a:t>
            </a:r>
            <a:endParaRPr i="1" sz="1100">
              <a:solidFill>
                <a:schemeClr val="dk1"/>
              </a:solidFill>
              <a:latin typeface="Poppins Medium"/>
              <a:ea typeface="Poppins Medium"/>
              <a:cs typeface="Poppins Medium"/>
              <a:sym typeface="Poppins Medium"/>
            </a:endParaRPr>
          </a:p>
        </p:txBody>
      </p:sp>
      <p:sp>
        <p:nvSpPr>
          <p:cNvPr id="133" name="Google Shape;133;p20"/>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21"/>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139" name="Google Shape;139;p21"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140" name="Google Shape;140;p21"/>
          <p:cNvSpPr txBox="1"/>
          <p:nvPr/>
        </p:nvSpPr>
        <p:spPr>
          <a:xfrm>
            <a:off x="419525" y="817750"/>
            <a:ext cx="65229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3</a:t>
            </a:r>
            <a:r>
              <a:rPr b="1" lang="pt-BR" sz="3150">
                <a:solidFill>
                  <a:srgbClr val="0044A4"/>
                </a:solidFill>
                <a:latin typeface="Poppins"/>
                <a:ea typeface="Poppins"/>
                <a:cs typeface="Poppins"/>
                <a:sym typeface="Poppins"/>
              </a:rPr>
              <a:t>. MOTIVO DO CONTATO</a:t>
            </a:r>
            <a:endParaRPr b="1" sz="9900">
              <a:solidFill>
                <a:srgbClr val="0044A4"/>
              </a:solidFill>
              <a:latin typeface="Poppins"/>
              <a:ea typeface="Poppins"/>
              <a:cs typeface="Poppins"/>
              <a:sym typeface="Poppins"/>
            </a:endParaRPr>
          </a:p>
        </p:txBody>
      </p:sp>
      <p:sp>
        <p:nvSpPr>
          <p:cNvPr id="141" name="Google Shape;141;p21"/>
          <p:cNvSpPr txBox="1"/>
          <p:nvPr/>
        </p:nvSpPr>
        <p:spPr>
          <a:xfrm>
            <a:off x="419525" y="1578025"/>
            <a:ext cx="8127000" cy="224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44A4"/>
                </a:solidFill>
                <a:latin typeface="Poppins"/>
                <a:ea typeface="Poppins"/>
                <a:cs typeface="Poppins"/>
                <a:sym typeface="Poppins"/>
              </a:rPr>
              <a:t>Você precisa dar uma justificativa, um motivo pelo qual você está enviando a mensagem, e não, não pode ser só por que você quer vender o seu serviço.</a:t>
            </a:r>
            <a:endParaRPr b="1" sz="1200">
              <a:solidFill>
                <a:srgbClr val="0044A4"/>
              </a:solidFill>
              <a:latin typeface="Poppins"/>
              <a:ea typeface="Poppins"/>
              <a:cs typeface="Poppins"/>
              <a:sym typeface="Poppins"/>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Acompanhei o seu perfil e vi que você já está investindo em anúncios para captar clientes, o que mostra que entende a importância do digital para advogados.</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E por conta disso, tomei a liberdade de fazer uma análise rápida nos seus anúncios e percebi que existem alguns pontos que podemos implementar para melhorar os resultados das suas campanhas e atrair clientes mais qualificados para o seu escritório, sem precisar aumentar o seu investimento.</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Inclusive, se você quiser, eu posso te encaminhar essa análise estratégica onde destaquei esses pontos práticos para melhorar os resultados dos seus anúncios.</a:t>
            </a:r>
            <a:endParaRPr i="1" sz="1100">
              <a:solidFill>
                <a:schemeClr val="dk1"/>
              </a:solidFill>
              <a:latin typeface="Poppins Medium"/>
              <a:ea typeface="Poppins Medium"/>
              <a:cs typeface="Poppins Medium"/>
              <a:sym typeface="Poppins Medium"/>
            </a:endParaRPr>
          </a:p>
        </p:txBody>
      </p:sp>
      <p:sp>
        <p:nvSpPr>
          <p:cNvPr id="142" name="Google Shape;142;p21"/>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cxnSp>
        <p:nvCxnSpPr>
          <p:cNvPr id="147" name="Google Shape;147;p22"/>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148" name="Google Shape;148;p22"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149" name="Google Shape;149;p22"/>
          <p:cNvSpPr txBox="1"/>
          <p:nvPr/>
        </p:nvSpPr>
        <p:spPr>
          <a:xfrm>
            <a:off x="419525" y="817750"/>
            <a:ext cx="65229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4</a:t>
            </a:r>
            <a:r>
              <a:rPr b="1" lang="pt-BR" sz="3150">
                <a:solidFill>
                  <a:srgbClr val="0044A4"/>
                </a:solidFill>
                <a:latin typeface="Poppins"/>
                <a:ea typeface="Poppins"/>
                <a:cs typeface="Poppins"/>
                <a:sym typeface="Poppins"/>
              </a:rPr>
              <a:t>. CTA</a:t>
            </a:r>
            <a:endParaRPr b="1" sz="9900">
              <a:solidFill>
                <a:srgbClr val="0044A4"/>
              </a:solidFill>
              <a:latin typeface="Poppins"/>
              <a:ea typeface="Poppins"/>
              <a:cs typeface="Poppins"/>
              <a:sym typeface="Poppins"/>
            </a:endParaRPr>
          </a:p>
        </p:txBody>
      </p:sp>
      <p:sp>
        <p:nvSpPr>
          <p:cNvPr id="150" name="Google Shape;150;p22"/>
          <p:cNvSpPr txBox="1"/>
          <p:nvPr/>
        </p:nvSpPr>
        <p:spPr>
          <a:xfrm>
            <a:off x="419525" y="1578025"/>
            <a:ext cx="81270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44A4"/>
                </a:solidFill>
                <a:latin typeface="Poppins"/>
                <a:ea typeface="Poppins"/>
                <a:cs typeface="Poppins"/>
                <a:sym typeface="Poppins"/>
              </a:rPr>
              <a:t>Sua chamada precisa ser de fácil aceitação, de modo que o prospect não precise pensar muito à respeito se vale a pena aceitar ou não.</a:t>
            </a:r>
            <a:endParaRPr b="1" sz="1200">
              <a:solidFill>
                <a:srgbClr val="0044A4"/>
              </a:solidFill>
              <a:latin typeface="Poppins"/>
              <a:ea typeface="Poppins"/>
              <a:cs typeface="Poppins"/>
              <a:sym typeface="Poppins"/>
            </a:endParaRPr>
          </a:p>
          <a:p>
            <a:pPr indent="0" lvl="0" marL="0" rtl="0" algn="l">
              <a:spcBef>
                <a:spcPts val="0"/>
              </a:spcBef>
              <a:spcAft>
                <a:spcPts val="0"/>
              </a:spcAft>
              <a:buNone/>
            </a:pPr>
            <a:r>
              <a:t/>
            </a:r>
            <a:endParaRPr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Posso te enviar agora?</a:t>
            </a:r>
            <a:endParaRPr i="1" sz="1100">
              <a:solidFill>
                <a:schemeClr val="dk1"/>
              </a:solidFill>
              <a:latin typeface="Poppins Medium"/>
              <a:ea typeface="Poppins Medium"/>
              <a:cs typeface="Poppins Medium"/>
              <a:sym typeface="Poppins Medium"/>
            </a:endParaRPr>
          </a:p>
          <a:p>
            <a:pPr indent="0" lvl="0" marL="0" rtl="0" algn="l">
              <a:spcBef>
                <a:spcPts val="0"/>
              </a:spcBef>
              <a:spcAft>
                <a:spcPts val="0"/>
              </a:spcAft>
              <a:buNone/>
            </a:pPr>
            <a:r>
              <a:rPr i="1" lang="pt-BR" sz="1100">
                <a:solidFill>
                  <a:schemeClr val="dk1"/>
                </a:solidFill>
                <a:latin typeface="Poppins Medium"/>
                <a:ea typeface="Poppins Medium"/>
                <a:cs typeface="Poppins Medium"/>
                <a:sym typeface="Poppins Medium"/>
              </a:rPr>
              <a:t>Gostaria de receber?</a:t>
            </a:r>
            <a:endParaRPr i="1" sz="1100">
              <a:solidFill>
                <a:schemeClr val="dk1"/>
              </a:solidFill>
              <a:latin typeface="Poppins Medium"/>
              <a:ea typeface="Poppins Medium"/>
              <a:cs typeface="Poppins Medium"/>
              <a:sym typeface="Poppins Medium"/>
            </a:endParaRPr>
          </a:p>
        </p:txBody>
      </p:sp>
      <p:sp>
        <p:nvSpPr>
          <p:cNvPr id="151" name="Google Shape;151;p22"/>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3" title="LO2_UniversoSubido_PPT_bg.png"/>
          <p:cNvPicPr preferRelativeResize="0"/>
          <p:nvPr/>
        </p:nvPicPr>
        <p:blipFill>
          <a:blip r:embed="rId3">
            <a:alphaModFix/>
          </a:blip>
          <a:stretch>
            <a:fillRect/>
          </a:stretch>
        </p:blipFill>
        <p:spPr>
          <a:xfrm>
            <a:off x="0" y="0"/>
            <a:ext cx="9143981" cy="5143500"/>
          </a:xfrm>
          <a:prstGeom prst="rect">
            <a:avLst/>
          </a:prstGeom>
          <a:noFill/>
          <a:ln>
            <a:noFill/>
          </a:ln>
        </p:spPr>
      </p:pic>
      <p:cxnSp>
        <p:nvCxnSpPr>
          <p:cNvPr id="157" name="Google Shape;157;p23"/>
          <p:cNvCxnSpPr/>
          <p:nvPr/>
        </p:nvCxnSpPr>
        <p:spPr>
          <a:xfrm>
            <a:off x="-11862" y="755675"/>
            <a:ext cx="9167700" cy="0"/>
          </a:xfrm>
          <a:prstGeom prst="straightConnector1">
            <a:avLst/>
          </a:prstGeom>
          <a:noFill/>
          <a:ln cap="flat" cmpd="sng" w="9525">
            <a:solidFill>
              <a:srgbClr val="FFFFFF"/>
            </a:solidFill>
            <a:prstDash val="solid"/>
            <a:round/>
            <a:headEnd len="med" w="med" type="none"/>
            <a:tailEnd len="med" w="med" type="none"/>
          </a:ln>
        </p:spPr>
      </p:cxnSp>
      <p:pic>
        <p:nvPicPr>
          <p:cNvPr id="158" name="Google Shape;158;p23" title="Branco.png"/>
          <p:cNvPicPr preferRelativeResize="0"/>
          <p:nvPr/>
        </p:nvPicPr>
        <p:blipFill rotWithShape="1">
          <a:blip r:embed="rId4">
            <a:alphaModFix/>
          </a:blip>
          <a:srcRect b="0" l="0" r="0" t="0"/>
          <a:stretch/>
        </p:blipFill>
        <p:spPr>
          <a:xfrm>
            <a:off x="6843825" y="217963"/>
            <a:ext cx="1702576" cy="319775"/>
          </a:xfrm>
          <a:prstGeom prst="rect">
            <a:avLst/>
          </a:prstGeom>
          <a:noFill/>
          <a:ln>
            <a:noFill/>
          </a:ln>
        </p:spPr>
      </p:pic>
      <p:sp>
        <p:nvSpPr>
          <p:cNvPr id="159" name="Google Shape;159;p23"/>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FFFFFF"/>
                </a:solidFill>
                <a:latin typeface="Poppins"/>
                <a:ea typeface="Poppins"/>
                <a:cs typeface="Poppins"/>
                <a:sym typeface="Poppins"/>
              </a:rPr>
              <a:t>Prospecção por Mensagem</a:t>
            </a:r>
            <a:endParaRPr b="1" sz="1150">
              <a:solidFill>
                <a:srgbClr val="FFFFFF"/>
              </a:solidFill>
              <a:latin typeface="Poppins"/>
              <a:ea typeface="Poppins"/>
              <a:cs typeface="Poppins"/>
              <a:sym typeface="Poppins"/>
            </a:endParaRPr>
          </a:p>
        </p:txBody>
      </p:sp>
      <p:cxnSp>
        <p:nvCxnSpPr>
          <p:cNvPr id="160" name="Google Shape;160;p23"/>
          <p:cNvCxnSpPr/>
          <p:nvPr/>
        </p:nvCxnSpPr>
        <p:spPr>
          <a:xfrm>
            <a:off x="-8875" y="755675"/>
            <a:ext cx="9164700" cy="0"/>
          </a:xfrm>
          <a:prstGeom prst="straightConnector1">
            <a:avLst/>
          </a:prstGeom>
          <a:noFill/>
          <a:ln cap="flat" cmpd="sng" w="9525">
            <a:solidFill>
              <a:schemeClr val="lt1"/>
            </a:solidFill>
            <a:prstDash val="solid"/>
            <a:round/>
            <a:headEnd len="med" w="med" type="none"/>
            <a:tailEnd len="med" w="med" type="none"/>
          </a:ln>
        </p:spPr>
      </p:cxnSp>
      <p:sp>
        <p:nvSpPr>
          <p:cNvPr id="161" name="Google Shape;161;p23"/>
          <p:cNvSpPr/>
          <p:nvPr/>
        </p:nvSpPr>
        <p:spPr>
          <a:xfrm rot="-2418311">
            <a:off x="-1296225" y="4292266"/>
            <a:ext cx="2581398" cy="1156373"/>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3"/>
          <p:cNvSpPr/>
          <p:nvPr/>
        </p:nvSpPr>
        <p:spPr>
          <a:xfrm rot="1560490">
            <a:off x="8606074" y="2412450"/>
            <a:ext cx="2581305" cy="1068401"/>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3" name="Google Shape;163;p23"/>
          <p:cNvCxnSpPr/>
          <p:nvPr/>
        </p:nvCxnSpPr>
        <p:spPr>
          <a:xfrm flipH="1">
            <a:off x="4305650" y="2849975"/>
            <a:ext cx="2636700" cy="3000"/>
          </a:xfrm>
          <a:prstGeom prst="straightConnector1">
            <a:avLst/>
          </a:prstGeom>
          <a:noFill/>
          <a:ln cap="flat" cmpd="sng" w="9525">
            <a:solidFill>
              <a:srgbClr val="0395FF"/>
            </a:solidFill>
            <a:prstDash val="solid"/>
            <a:round/>
            <a:headEnd len="med" w="med" type="none"/>
            <a:tailEnd len="med" w="med" type="diamond"/>
          </a:ln>
        </p:spPr>
      </p:cxnSp>
      <p:pic>
        <p:nvPicPr>
          <p:cNvPr id="164" name="Google Shape;164;p23" title="estrutura-abordagem.jpg"/>
          <p:cNvPicPr preferRelativeResize="0"/>
          <p:nvPr/>
        </p:nvPicPr>
        <p:blipFill rotWithShape="1">
          <a:blip r:embed="rId5">
            <a:alphaModFix/>
          </a:blip>
          <a:srcRect b="13922" l="0" r="0" t="13871"/>
          <a:stretch/>
        </p:blipFill>
        <p:spPr>
          <a:xfrm>
            <a:off x="1697713" y="1553613"/>
            <a:ext cx="5751525" cy="2595725"/>
          </a:xfrm>
          <a:prstGeom prst="rect">
            <a:avLst/>
          </a:prstGeom>
          <a:solidFill>
            <a:srgbClr val="0044A4"/>
          </a:solid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4" title="LO2_UniversoSubido_PPT_bg.png"/>
          <p:cNvPicPr preferRelativeResize="0"/>
          <p:nvPr/>
        </p:nvPicPr>
        <p:blipFill>
          <a:blip r:embed="rId3">
            <a:alphaModFix/>
          </a:blip>
          <a:stretch>
            <a:fillRect/>
          </a:stretch>
        </p:blipFill>
        <p:spPr>
          <a:xfrm>
            <a:off x="0" y="0"/>
            <a:ext cx="9143981" cy="5143500"/>
          </a:xfrm>
          <a:prstGeom prst="rect">
            <a:avLst/>
          </a:prstGeom>
          <a:noFill/>
          <a:ln>
            <a:noFill/>
          </a:ln>
        </p:spPr>
      </p:pic>
      <p:sp>
        <p:nvSpPr>
          <p:cNvPr id="170" name="Google Shape;170;p24"/>
          <p:cNvSpPr txBox="1"/>
          <p:nvPr/>
        </p:nvSpPr>
        <p:spPr>
          <a:xfrm>
            <a:off x="2030400" y="1933050"/>
            <a:ext cx="5083200" cy="1277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550">
                <a:solidFill>
                  <a:schemeClr val="lt1"/>
                </a:solidFill>
                <a:latin typeface="Poppins"/>
                <a:ea typeface="Poppins"/>
                <a:cs typeface="Poppins"/>
                <a:sym typeface="Poppins"/>
              </a:rPr>
              <a:t>Onde encontrar seus futuros clientes?</a:t>
            </a:r>
            <a:endParaRPr b="1" sz="10300">
              <a:solidFill>
                <a:schemeClr val="lt1"/>
              </a:solidFill>
              <a:latin typeface="Poppins"/>
              <a:ea typeface="Poppins"/>
              <a:cs typeface="Poppins"/>
              <a:sym typeface="Poppins"/>
            </a:endParaRPr>
          </a:p>
        </p:txBody>
      </p:sp>
      <p:cxnSp>
        <p:nvCxnSpPr>
          <p:cNvPr id="171" name="Google Shape;171;p24"/>
          <p:cNvCxnSpPr/>
          <p:nvPr/>
        </p:nvCxnSpPr>
        <p:spPr>
          <a:xfrm>
            <a:off x="-11862" y="755675"/>
            <a:ext cx="9167700" cy="0"/>
          </a:xfrm>
          <a:prstGeom prst="straightConnector1">
            <a:avLst/>
          </a:prstGeom>
          <a:noFill/>
          <a:ln cap="flat" cmpd="sng" w="9525">
            <a:solidFill>
              <a:srgbClr val="FFFFFF"/>
            </a:solidFill>
            <a:prstDash val="solid"/>
            <a:round/>
            <a:headEnd len="med" w="med" type="none"/>
            <a:tailEnd len="med" w="med" type="none"/>
          </a:ln>
        </p:spPr>
      </p:cxnSp>
      <p:pic>
        <p:nvPicPr>
          <p:cNvPr id="172" name="Google Shape;172;p24" title="Branco.png"/>
          <p:cNvPicPr preferRelativeResize="0"/>
          <p:nvPr/>
        </p:nvPicPr>
        <p:blipFill rotWithShape="1">
          <a:blip r:embed="rId4">
            <a:alphaModFix/>
          </a:blip>
          <a:srcRect b="0" l="0" r="0" t="0"/>
          <a:stretch/>
        </p:blipFill>
        <p:spPr>
          <a:xfrm>
            <a:off x="6843825" y="217963"/>
            <a:ext cx="1702576" cy="319775"/>
          </a:xfrm>
          <a:prstGeom prst="rect">
            <a:avLst/>
          </a:prstGeom>
          <a:noFill/>
          <a:ln>
            <a:noFill/>
          </a:ln>
        </p:spPr>
      </p:pic>
      <p:sp>
        <p:nvSpPr>
          <p:cNvPr id="173" name="Google Shape;173;p24"/>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FFFFFF"/>
                </a:solidFill>
                <a:latin typeface="Poppins"/>
                <a:ea typeface="Poppins"/>
                <a:cs typeface="Poppins"/>
                <a:sym typeface="Poppins"/>
              </a:rPr>
              <a:t>Prospecção por Mensagem</a:t>
            </a:r>
            <a:endParaRPr>
              <a:solidFill>
                <a:srgbClr val="FFFFFF"/>
              </a:solidFill>
              <a:latin typeface="Poppins"/>
              <a:ea typeface="Poppins"/>
              <a:cs typeface="Poppins"/>
              <a:sym typeface="Poppins"/>
            </a:endParaRPr>
          </a:p>
        </p:txBody>
      </p:sp>
      <p:sp>
        <p:nvSpPr>
          <p:cNvPr id="174" name="Google Shape;174;p24"/>
          <p:cNvSpPr/>
          <p:nvPr/>
        </p:nvSpPr>
        <p:spPr>
          <a:xfrm rot="-2418311">
            <a:off x="-1296225" y="4292266"/>
            <a:ext cx="2581398" cy="1156373"/>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4"/>
          <p:cNvSpPr/>
          <p:nvPr/>
        </p:nvSpPr>
        <p:spPr>
          <a:xfrm rot="1560490">
            <a:off x="8206599" y="2432425"/>
            <a:ext cx="2581305" cy="1068401"/>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cxnSp>
        <p:nvCxnSpPr>
          <p:cNvPr id="180" name="Google Shape;180;p25"/>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181" name="Google Shape;181;p25"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182" name="Google Shape;182;p25"/>
          <p:cNvSpPr txBox="1"/>
          <p:nvPr/>
        </p:nvSpPr>
        <p:spPr>
          <a:xfrm>
            <a:off x="419525" y="817738"/>
            <a:ext cx="8011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COMO ENCONTRAR SEUS CLIENTES</a:t>
            </a:r>
            <a:endParaRPr b="1" sz="9900">
              <a:solidFill>
                <a:srgbClr val="0044A4"/>
              </a:solidFill>
              <a:latin typeface="Poppins"/>
              <a:ea typeface="Poppins"/>
              <a:cs typeface="Poppins"/>
              <a:sym typeface="Poppins"/>
            </a:endParaRPr>
          </a:p>
        </p:txBody>
      </p:sp>
      <p:sp>
        <p:nvSpPr>
          <p:cNvPr id="183" name="Google Shape;183;p25"/>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
        <p:nvSpPr>
          <p:cNvPr id="184" name="Google Shape;184;p25"/>
          <p:cNvSpPr txBox="1"/>
          <p:nvPr/>
        </p:nvSpPr>
        <p:spPr>
          <a:xfrm>
            <a:off x="811875" y="1732125"/>
            <a:ext cx="71916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00">
                <a:solidFill>
                  <a:srgbClr val="0044A4"/>
                </a:solidFill>
                <a:latin typeface="Poppins"/>
                <a:ea typeface="Poppins"/>
                <a:cs typeface="Poppins"/>
                <a:sym typeface="Poppins"/>
              </a:rPr>
              <a:t>Biblioteca de anúncios do meta:</a:t>
            </a:r>
            <a:br>
              <a:rPr b="1" lang="pt-BR" sz="1100">
                <a:solidFill>
                  <a:srgbClr val="0044A4"/>
                </a:solidFill>
                <a:latin typeface="Poppins"/>
                <a:ea typeface="Poppins"/>
                <a:cs typeface="Poppins"/>
                <a:sym typeface="Poppins"/>
              </a:rPr>
            </a:br>
            <a:endParaRPr b="1" sz="1100">
              <a:solidFill>
                <a:srgbClr val="0044A4"/>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Medium"/>
              <a:buChar char="●"/>
            </a:pPr>
            <a:r>
              <a:rPr lang="pt-BR" sz="1100">
                <a:solidFill>
                  <a:schemeClr val="dk1"/>
                </a:solidFill>
                <a:latin typeface="Poppins Medium"/>
                <a:ea typeface="Poppins Medium"/>
                <a:cs typeface="Poppins Medium"/>
                <a:sym typeface="Poppins Medium"/>
              </a:rPr>
              <a:t>Palavra-chave do nicho;</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chemeClr val="dk1"/>
              </a:buClr>
              <a:buSzPts val="1100"/>
              <a:buFont typeface="Poppins Medium"/>
              <a:buChar char="●"/>
            </a:pPr>
            <a:r>
              <a:rPr lang="pt-BR" sz="1100">
                <a:solidFill>
                  <a:schemeClr val="dk1"/>
                </a:solidFill>
                <a:latin typeface="Poppins Medium"/>
                <a:ea typeface="Poppins Medium"/>
                <a:cs typeface="Poppins Medium"/>
                <a:sym typeface="Poppins Medium"/>
              </a:rPr>
              <a:t>Procura por anúncios com a CTA de “Visitar perfil do instagram”;</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chemeClr val="dk1"/>
              </a:buClr>
              <a:buSzPts val="1100"/>
              <a:buFont typeface="Poppins Medium"/>
              <a:buChar char="●"/>
            </a:pPr>
            <a:r>
              <a:rPr lang="pt-BR" sz="1100">
                <a:solidFill>
                  <a:schemeClr val="dk1"/>
                </a:solidFill>
                <a:latin typeface="Poppins Medium"/>
                <a:ea typeface="Poppins Medium"/>
                <a:cs typeface="Poppins Medium"/>
                <a:sym typeface="Poppins Medium"/>
              </a:rPr>
              <a:t>Abre outra guia da biblioteca de anúncios &gt; pesquisa o nome do perfil que você viu anteriormente, veja os anúncios ativos dele;</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chemeClr val="dk1"/>
              </a:buClr>
              <a:buSzPts val="1100"/>
              <a:buFont typeface="Poppins Medium"/>
              <a:buChar char="●"/>
            </a:pPr>
            <a:r>
              <a:rPr lang="pt-BR" sz="1100">
                <a:solidFill>
                  <a:schemeClr val="dk1"/>
                </a:solidFill>
                <a:latin typeface="Poppins Medium"/>
                <a:ea typeface="Poppins Medium"/>
                <a:cs typeface="Poppins Medium"/>
                <a:sym typeface="Poppins Medium"/>
              </a:rPr>
              <a:t>Clica direto pelo CTA de visitar o perfil do Instagram e já prospecta ele.</a:t>
            </a:r>
            <a:endParaRPr sz="1100">
              <a:solidFill>
                <a:schemeClr val="dk1"/>
              </a:solidFill>
              <a:latin typeface="Poppins Medium"/>
              <a:ea typeface="Poppins Medium"/>
              <a:cs typeface="Poppins Medium"/>
              <a:sym typeface="Poppins Medium"/>
            </a:endParaRPr>
          </a:p>
        </p:txBody>
      </p:sp>
      <p:sp>
        <p:nvSpPr>
          <p:cNvPr id="185" name="Google Shape;185;p25"/>
          <p:cNvSpPr txBox="1"/>
          <p:nvPr/>
        </p:nvSpPr>
        <p:spPr>
          <a:xfrm>
            <a:off x="419525" y="1685375"/>
            <a:ext cx="432300" cy="4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1.</a:t>
            </a:r>
            <a:endParaRPr sz="2600">
              <a:solidFill>
                <a:srgbClr val="0395FF"/>
              </a:solidFill>
              <a:latin typeface="Poppins Black"/>
              <a:ea typeface="Poppins Black"/>
              <a:cs typeface="Poppins Black"/>
              <a:sym typeface="Poppins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cxnSp>
        <p:nvCxnSpPr>
          <p:cNvPr id="190" name="Google Shape;190;p26"/>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191" name="Google Shape;191;p26"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192" name="Google Shape;192;p26"/>
          <p:cNvSpPr txBox="1"/>
          <p:nvPr/>
        </p:nvSpPr>
        <p:spPr>
          <a:xfrm>
            <a:off x="419525" y="817738"/>
            <a:ext cx="8011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COMO ENCONTRAR SEUS CLIENTES</a:t>
            </a:r>
            <a:endParaRPr b="1" sz="9900">
              <a:solidFill>
                <a:srgbClr val="0044A4"/>
              </a:solidFill>
              <a:latin typeface="Poppins"/>
              <a:ea typeface="Poppins"/>
              <a:cs typeface="Poppins"/>
              <a:sym typeface="Poppins"/>
            </a:endParaRPr>
          </a:p>
        </p:txBody>
      </p:sp>
      <p:sp>
        <p:nvSpPr>
          <p:cNvPr id="193" name="Google Shape;193;p26"/>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
        <p:nvSpPr>
          <p:cNvPr id="194" name="Google Shape;194;p26"/>
          <p:cNvSpPr txBox="1"/>
          <p:nvPr/>
        </p:nvSpPr>
        <p:spPr>
          <a:xfrm>
            <a:off x="811875" y="1732125"/>
            <a:ext cx="7191600" cy="144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00">
                <a:solidFill>
                  <a:srgbClr val="0044A4"/>
                </a:solidFill>
                <a:latin typeface="Poppins"/>
                <a:ea typeface="Poppins"/>
                <a:cs typeface="Poppins"/>
                <a:sym typeface="Poppins"/>
              </a:rPr>
              <a:t>Ferramenta revolucionária: Google.</a:t>
            </a:r>
            <a:br>
              <a:rPr b="1" lang="pt-BR" sz="1600">
                <a:solidFill>
                  <a:srgbClr val="0044A4"/>
                </a:solidFill>
                <a:latin typeface="Poppins"/>
                <a:ea typeface="Poppins"/>
                <a:cs typeface="Poppins"/>
                <a:sym typeface="Poppins"/>
              </a:rPr>
            </a:br>
            <a:endParaRPr b="1" sz="1600">
              <a:solidFill>
                <a:srgbClr val="0044A4"/>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Medium"/>
              <a:buChar char="●"/>
            </a:pPr>
            <a:r>
              <a:rPr lang="pt-BR" sz="1100">
                <a:solidFill>
                  <a:schemeClr val="dk1"/>
                </a:solidFill>
                <a:latin typeface="Poppins Medium"/>
                <a:ea typeface="Poppins Medium"/>
                <a:cs typeface="Poppins Medium"/>
                <a:sym typeface="Poppins Medium"/>
              </a:rPr>
              <a:t>Entre no Google e pesquisa: NICHO; ("palavra-chave 1" OR "palavra-chave 2") site:instagram.com "1000...30000 followers"</a:t>
            </a:r>
            <a:br>
              <a:rPr lang="pt-BR" sz="1100">
                <a:solidFill>
                  <a:schemeClr val="dk1"/>
                </a:solidFill>
                <a:latin typeface="Poppins Medium"/>
                <a:ea typeface="Poppins Medium"/>
                <a:cs typeface="Poppins Medium"/>
                <a:sym typeface="Poppins Medium"/>
              </a:rPr>
            </a:br>
            <a:endParaRPr sz="1100">
              <a:solidFill>
                <a:schemeClr val="dk1"/>
              </a:solidFill>
              <a:latin typeface="Poppins Medium"/>
              <a:ea typeface="Poppins Medium"/>
              <a:cs typeface="Poppins Medium"/>
              <a:sym typeface="Poppins Medium"/>
            </a:endParaRPr>
          </a:p>
          <a:p>
            <a:pPr indent="-298450" lvl="0" marL="457200" rtl="0" algn="l">
              <a:spcBef>
                <a:spcPts val="0"/>
              </a:spcBef>
              <a:spcAft>
                <a:spcPts val="0"/>
              </a:spcAft>
              <a:buClr>
                <a:schemeClr val="dk1"/>
              </a:buClr>
              <a:buSzPts val="1100"/>
              <a:buFont typeface="Poppins Medium"/>
              <a:buChar char="●"/>
            </a:pPr>
            <a:r>
              <a:rPr lang="pt-BR" sz="1100">
                <a:solidFill>
                  <a:schemeClr val="dk1"/>
                </a:solidFill>
                <a:latin typeface="Poppins Medium"/>
                <a:ea typeface="Poppins Medium"/>
                <a:cs typeface="Poppins Medium"/>
                <a:sym typeface="Poppins Medium"/>
              </a:rPr>
              <a:t>Aqui você vai ter no mínimo 30 páginas do Google com os perfis exatamente do jeito que você pediu, se quiser, já pode sair prospectando, se quiser, pode fazer sua lista, etc.</a:t>
            </a:r>
            <a:endParaRPr sz="1100">
              <a:solidFill>
                <a:schemeClr val="dk1"/>
              </a:solidFill>
              <a:latin typeface="Poppins Medium"/>
              <a:ea typeface="Poppins Medium"/>
              <a:cs typeface="Poppins Medium"/>
              <a:sym typeface="Poppins Medium"/>
            </a:endParaRPr>
          </a:p>
        </p:txBody>
      </p:sp>
      <p:sp>
        <p:nvSpPr>
          <p:cNvPr id="195" name="Google Shape;195;p26"/>
          <p:cNvSpPr txBox="1"/>
          <p:nvPr/>
        </p:nvSpPr>
        <p:spPr>
          <a:xfrm>
            <a:off x="419525" y="1685367"/>
            <a:ext cx="5292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2.</a:t>
            </a:r>
            <a:endParaRPr sz="2600">
              <a:solidFill>
                <a:srgbClr val="0395FF"/>
              </a:solidFill>
              <a:latin typeface="Poppins Black"/>
              <a:ea typeface="Poppins Black"/>
              <a:cs typeface="Poppins Black"/>
              <a:sym typeface="Poppins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cxnSp>
        <p:nvCxnSpPr>
          <p:cNvPr id="200" name="Google Shape;200;p27"/>
          <p:cNvCxnSpPr/>
          <p:nvPr/>
        </p:nvCxnSpPr>
        <p:spPr>
          <a:xfrm>
            <a:off x="-8875" y="755675"/>
            <a:ext cx="9164700" cy="0"/>
          </a:xfrm>
          <a:prstGeom prst="straightConnector1">
            <a:avLst/>
          </a:prstGeom>
          <a:noFill/>
          <a:ln cap="flat" cmpd="sng" w="9525">
            <a:solidFill>
              <a:srgbClr val="0044A4"/>
            </a:solidFill>
            <a:prstDash val="solid"/>
            <a:round/>
            <a:headEnd len="med" w="med" type="none"/>
            <a:tailEnd len="med" w="med" type="none"/>
          </a:ln>
        </p:spPr>
      </p:cxnSp>
      <p:pic>
        <p:nvPicPr>
          <p:cNvPr id="201" name="Google Shape;201;p27" title="Azul.png"/>
          <p:cNvPicPr preferRelativeResize="0"/>
          <p:nvPr/>
        </p:nvPicPr>
        <p:blipFill rotWithShape="1">
          <a:blip r:embed="rId3">
            <a:alphaModFix/>
          </a:blip>
          <a:srcRect b="0" l="0" r="0" t="0"/>
          <a:stretch/>
        </p:blipFill>
        <p:spPr>
          <a:xfrm>
            <a:off x="6843825" y="217963"/>
            <a:ext cx="1702576" cy="319775"/>
          </a:xfrm>
          <a:prstGeom prst="rect">
            <a:avLst/>
          </a:prstGeom>
          <a:noFill/>
          <a:ln>
            <a:noFill/>
          </a:ln>
        </p:spPr>
      </p:pic>
      <p:sp>
        <p:nvSpPr>
          <p:cNvPr id="202" name="Google Shape;202;p27"/>
          <p:cNvSpPr txBox="1"/>
          <p:nvPr/>
        </p:nvSpPr>
        <p:spPr>
          <a:xfrm>
            <a:off x="419525" y="817738"/>
            <a:ext cx="8011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50">
                <a:solidFill>
                  <a:srgbClr val="0044A4"/>
                </a:solidFill>
                <a:latin typeface="Poppins"/>
                <a:ea typeface="Poppins"/>
                <a:cs typeface="Poppins"/>
                <a:sym typeface="Poppins"/>
              </a:rPr>
              <a:t>COMO ENCONTRAR SEUS CLIENTES</a:t>
            </a:r>
            <a:endParaRPr b="1" sz="9900">
              <a:solidFill>
                <a:srgbClr val="0044A4"/>
              </a:solidFill>
              <a:latin typeface="Poppins"/>
              <a:ea typeface="Poppins"/>
              <a:cs typeface="Poppins"/>
              <a:sym typeface="Poppins"/>
            </a:endParaRPr>
          </a:p>
        </p:txBody>
      </p:sp>
      <p:sp>
        <p:nvSpPr>
          <p:cNvPr id="203" name="Google Shape;203;p27"/>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0044A4"/>
                </a:solidFill>
                <a:latin typeface="Poppins"/>
                <a:ea typeface="Poppins"/>
                <a:cs typeface="Poppins"/>
                <a:sym typeface="Poppins"/>
              </a:rPr>
              <a:t>Prospecção por Mensagem</a:t>
            </a:r>
            <a:endParaRPr b="1" sz="1150">
              <a:solidFill>
                <a:srgbClr val="0044A4"/>
              </a:solidFill>
              <a:latin typeface="Poppins"/>
              <a:ea typeface="Poppins"/>
              <a:cs typeface="Poppins"/>
              <a:sym typeface="Poppins"/>
            </a:endParaRPr>
          </a:p>
        </p:txBody>
      </p:sp>
      <p:sp>
        <p:nvSpPr>
          <p:cNvPr id="204" name="Google Shape;204;p27"/>
          <p:cNvSpPr txBox="1"/>
          <p:nvPr/>
        </p:nvSpPr>
        <p:spPr>
          <a:xfrm>
            <a:off x="811875" y="1732125"/>
            <a:ext cx="7191600" cy="113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00">
                <a:solidFill>
                  <a:srgbClr val="0044A4"/>
                </a:solidFill>
                <a:latin typeface="Poppins"/>
                <a:ea typeface="Poppins"/>
                <a:cs typeface="Poppins"/>
                <a:sym typeface="Poppins"/>
              </a:rPr>
              <a:t>GBP Check:</a:t>
            </a:r>
            <a:endParaRPr b="1" sz="1100">
              <a:solidFill>
                <a:srgbClr val="0044A4"/>
              </a:solidFill>
              <a:latin typeface="Poppins"/>
              <a:ea typeface="Poppins"/>
              <a:cs typeface="Poppins"/>
              <a:sym typeface="Poppins"/>
            </a:endParaRPr>
          </a:p>
          <a:p>
            <a:pPr indent="0" lvl="0" marL="0" rtl="0" algn="l">
              <a:spcBef>
                <a:spcPts val="0"/>
              </a:spcBef>
              <a:spcAft>
                <a:spcPts val="0"/>
              </a:spcAft>
              <a:buNone/>
            </a:pPr>
            <a:r>
              <a:t/>
            </a:r>
            <a:endParaRPr b="1" sz="1100">
              <a:solidFill>
                <a:srgbClr val="0044A4"/>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pt-BR" sz="1200">
                <a:solidFill>
                  <a:schemeClr val="dk1"/>
                </a:solidFill>
                <a:latin typeface="Poppins"/>
                <a:ea typeface="Poppins"/>
                <a:cs typeface="Poppins"/>
                <a:sym typeface="Poppins"/>
              </a:rPr>
              <a:t>ferramenta paga, porém, você consegue buscar leads e ainda otimizar o perfil do Google Meu Negócio para seus clientes, ou seja, ótima ferramenta para Aquisição de novos clientes e fazer futuro Crossell.</a:t>
            </a:r>
            <a:endParaRPr sz="1100">
              <a:solidFill>
                <a:schemeClr val="dk1"/>
              </a:solidFill>
              <a:latin typeface="Poppins Medium"/>
              <a:ea typeface="Poppins Medium"/>
              <a:cs typeface="Poppins Medium"/>
              <a:sym typeface="Poppins Medium"/>
            </a:endParaRPr>
          </a:p>
        </p:txBody>
      </p:sp>
      <p:sp>
        <p:nvSpPr>
          <p:cNvPr id="205" name="Google Shape;205;p27"/>
          <p:cNvSpPr txBox="1"/>
          <p:nvPr/>
        </p:nvSpPr>
        <p:spPr>
          <a:xfrm>
            <a:off x="419525" y="1700779"/>
            <a:ext cx="5292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600">
                <a:solidFill>
                  <a:srgbClr val="0395FF"/>
                </a:solidFill>
                <a:latin typeface="Poppins Black"/>
                <a:ea typeface="Poppins Black"/>
                <a:cs typeface="Poppins Black"/>
                <a:sym typeface="Poppins Black"/>
              </a:rPr>
              <a:t>3.</a:t>
            </a:r>
            <a:endParaRPr sz="2600">
              <a:solidFill>
                <a:srgbClr val="0395FF"/>
              </a:solidFill>
              <a:latin typeface="Poppins Black"/>
              <a:ea typeface="Poppins Black"/>
              <a:cs typeface="Poppins Black"/>
              <a:sym typeface="Poppins Blac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8" title="LO2_UniversoSubido_PPT_bg.png"/>
          <p:cNvPicPr preferRelativeResize="0"/>
          <p:nvPr/>
        </p:nvPicPr>
        <p:blipFill>
          <a:blip r:embed="rId3">
            <a:alphaModFix/>
          </a:blip>
          <a:stretch>
            <a:fillRect/>
          </a:stretch>
        </p:blipFill>
        <p:spPr>
          <a:xfrm>
            <a:off x="0" y="0"/>
            <a:ext cx="9143981" cy="5143500"/>
          </a:xfrm>
          <a:prstGeom prst="rect">
            <a:avLst/>
          </a:prstGeom>
          <a:noFill/>
          <a:ln>
            <a:noFill/>
          </a:ln>
        </p:spPr>
      </p:pic>
      <p:sp>
        <p:nvSpPr>
          <p:cNvPr id="211" name="Google Shape;211;p28"/>
          <p:cNvSpPr txBox="1"/>
          <p:nvPr/>
        </p:nvSpPr>
        <p:spPr>
          <a:xfrm>
            <a:off x="2012249" y="2206200"/>
            <a:ext cx="5119500" cy="7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550">
                <a:solidFill>
                  <a:schemeClr val="lt1"/>
                </a:solidFill>
                <a:latin typeface="Poppins"/>
                <a:ea typeface="Poppins"/>
                <a:cs typeface="Poppins"/>
                <a:sym typeface="Poppins"/>
              </a:rPr>
              <a:t>PRÁTICA</a:t>
            </a:r>
            <a:endParaRPr b="1" sz="10300">
              <a:solidFill>
                <a:schemeClr val="lt1"/>
              </a:solidFill>
              <a:latin typeface="Poppins"/>
              <a:ea typeface="Poppins"/>
              <a:cs typeface="Poppins"/>
              <a:sym typeface="Poppins"/>
            </a:endParaRPr>
          </a:p>
        </p:txBody>
      </p:sp>
      <p:cxnSp>
        <p:nvCxnSpPr>
          <p:cNvPr id="212" name="Google Shape;212;p28"/>
          <p:cNvCxnSpPr/>
          <p:nvPr/>
        </p:nvCxnSpPr>
        <p:spPr>
          <a:xfrm>
            <a:off x="-11862" y="755675"/>
            <a:ext cx="9167700" cy="0"/>
          </a:xfrm>
          <a:prstGeom prst="straightConnector1">
            <a:avLst/>
          </a:prstGeom>
          <a:noFill/>
          <a:ln cap="flat" cmpd="sng" w="9525">
            <a:solidFill>
              <a:srgbClr val="FFFFFF"/>
            </a:solidFill>
            <a:prstDash val="solid"/>
            <a:round/>
            <a:headEnd len="med" w="med" type="none"/>
            <a:tailEnd len="med" w="med" type="none"/>
          </a:ln>
        </p:spPr>
      </p:cxnSp>
      <p:pic>
        <p:nvPicPr>
          <p:cNvPr id="213" name="Google Shape;213;p28" title="Branco.png"/>
          <p:cNvPicPr preferRelativeResize="0"/>
          <p:nvPr/>
        </p:nvPicPr>
        <p:blipFill rotWithShape="1">
          <a:blip r:embed="rId4">
            <a:alphaModFix/>
          </a:blip>
          <a:srcRect b="0" l="0" r="0" t="0"/>
          <a:stretch/>
        </p:blipFill>
        <p:spPr>
          <a:xfrm>
            <a:off x="6843825" y="217963"/>
            <a:ext cx="1702576" cy="319775"/>
          </a:xfrm>
          <a:prstGeom prst="rect">
            <a:avLst/>
          </a:prstGeom>
          <a:noFill/>
          <a:ln>
            <a:noFill/>
          </a:ln>
        </p:spPr>
      </p:pic>
      <p:sp>
        <p:nvSpPr>
          <p:cNvPr id="214" name="Google Shape;214;p28"/>
          <p:cNvSpPr txBox="1"/>
          <p:nvPr/>
        </p:nvSpPr>
        <p:spPr>
          <a:xfrm>
            <a:off x="419525" y="257925"/>
            <a:ext cx="4504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50">
                <a:solidFill>
                  <a:srgbClr val="FFFFFF"/>
                </a:solidFill>
                <a:latin typeface="Poppins"/>
                <a:ea typeface="Poppins"/>
                <a:cs typeface="Poppins"/>
                <a:sym typeface="Poppins"/>
              </a:rPr>
              <a:t>Prospecção por Mensagem</a:t>
            </a:r>
            <a:endParaRPr>
              <a:solidFill>
                <a:srgbClr val="FFFFFF"/>
              </a:solidFill>
              <a:latin typeface="Poppins"/>
              <a:ea typeface="Poppins"/>
              <a:cs typeface="Poppins"/>
              <a:sym typeface="Poppins"/>
            </a:endParaRPr>
          </a:p>
        </p:txBody>
      </p:sp>
      <p:sp>
        <p:nvSpPr>
          <p:cNvPr id="215" name="Google Shape;215;p28"/>
          <p:cNvSpPr/>
          <p:nvPr/>
        </p:nvSpPr>
        <p:spPr>
          <a:xfrm rot="-2418311">
            <a:off x="-1296225" y="4292266"/>
            <a:ext cx="2581398" cy="1156373"/>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8"/>
          <p:cNvSpPr/>
          <p:nvPr/>
        </p:nvSpPr>
        <p:spPr>
          <a:xfrm rot="1560490">
            <a:off x="8206599" y="2432425"/>
            <a:ext cx="2581305" cy="1068401"/>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